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21420138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5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7193"/>
  </p:normalViewPr>
  <p:slideViewPr>
    <p:cSldViewPr snapToGrid="0">
      <p:cViewPr>
        <p:scale>
          <a:sx n="43" d="100"/>
          <a:sy n="43" d="100"/>
        </p:scale>
        <p:origin x="427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-104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12384-EEA0-B942-9C1C-50C8244C080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ED516-323A-B240-BE4E-EB4CA4F0357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513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ED516-323A-B240-BE4E-EB4CA4F03577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031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11" y="4954765"/>
            <a:ext cx="18207117" cy="10540259"/>
          </a:xfrm>
        </p:spPr>
        <p:txBody>
          <a:bodyPr anchor="b"/>
          <a:lstStyle>
            <a:lvl1pPr algn="ctr">
              <a:defRPr sz="14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517" y="15901497"/>
            <a:ext cx="16065104" cy="7309499"/>
          </a:xfrm>
        </p:spPr>
        <p:txBody>
          <a:bodyPr/>
          <a:lstStyle>
            <a:lvl1pPr marL="0" indent="0" algn="ctr">
              <a:buNone/>
              <a:defRPr sz="5622"/>
            </a:lvl1pPr>
            <a:lvl2pPr marL="1070991" indent="0" algn="ctr">
              <a:buNone/>
              <a:defRPr sz="4685"/>
            </a:lvl2pPr>
            <a:lvl3pPr marL="2141982" indent="0" algn="ctr">
              <a:buNone/>
              <a:defRPr sz="4217"/>
            </a:lvl3pPr>
            <a:lvl4pPr marL="3212973" indent="0" algn="ctr">
              <a:buNone/>
              <a:defRPr sz="3748"/>
            </a:lvl4pPr>
            <a:lvl5pPr marL="4283964" indent="0" algn="ctr">
              <a:buNone/>
              <a:defRPr sz="3748"/>
            </a:lvl5pPr>
            <a:lvl6pPr marL="5354955" indent="0" algn="ctr">
              <a:buNone/>
              <a:defRPr sz="3748"/>
            </a:lvl6pPr>
            <a:lvl7pPr marL="6425946" indent="0" algn="ctr">
              <a:buNone/>
              <a:defRPr sz="3748"/>
            </a:lvl7pPr>
            <a:lvl8pPr marL="7496937" indent="0" algn="ctr">
              <a:buNone/>
              <a:defRPr sz="3748"/>
            </a:lvl8pPr>
            <a:lvl9pPr marL="8567928" indent="0" algn="ctr">
              <a:buNone/>
              <a:defRPr sz="37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7414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158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479" y="7547788"/>
            <a:ext cx="18474869" cy="12593645"/>
          </a:xfrm>
        </p:spPr>
        <p:txBody>
          <a:bodyPr anchor="b"/>
          <a:lstStyle>
            <a:lvl1pPr>
              <a:defRPr sz="14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479" y="20260574"/>
            <a:ext cx="18474869" cy="6622701"/>
          </a:xfrm>
        </p:spPr>
        <p:txBody>
          <a:bodyPr/>
          <a:lstStyle>
            <a:lvl1pPr marL="0" indent="0">
              <a:buNone/>
              <a:defRPr sz="5622">
                <a:solidFill>
                  <a:schemeClr val="tx1">
                    <a:tint val="82000"/>
                  </a:schemeClr>
                </a:solidFill>
              </a:defRPr>
            </a:lvl1pPr>
            <a:lvl2pPr marL="1070991" indent="0">
              <a:buNone/>
              <a:defRPr sz="4685">
                <a:solidFill>
                  <a:schemeClr val="tx1">
                    <a:tint val="82000"/>
                  </a:schemeClr>
                </a:solidFill>
              </a:defRPr>
            </a:lvl2pPr>
            <a:lvl3pPr marL="2141982" indent="0">
              <a:buNone/>
              <a:defRPr sz="4217">
                <a:solidFill>
                  <a:schemeClr val="tx1">
                    <a:tint val="82000"/>
                  </a:schemeClr>
                </a:solidFill>
              </a:defRPr>
            </a:lvl3pPr>
            <a:lvl4pPr marL="3212973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4pPr>
            <a:lvl5pPr marL="4283964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5pPr>
            <a:lvl6pPr marL="5354955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6pPr>
            <a:lvl7pPr marL="6425946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7pPr>
            <a:lvl8pPr marL="7496937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8pPr>
            <a:lvl9pPr marL="8567928" indent="0">
              <a:buNone/>
              <a:defRPr sz="37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969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2634" y="8059374"/>
            <a:ext cx="9103559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43945" y="8059374"/>
            <a:ext cx="9103559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5886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1611882"/>
            <a:ext cx="18474869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5427" y="7421634"/>
            <a:ext cx="9061721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5427" y="11058863"/>
            <a:ext cx="9061721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43946" y="7421634"/>
            <a:ext cx="9106349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43946" y="11058863"/>
            <a:ext cx="9106349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104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341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958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6349" y="4359077"/>
            <a:ext cx="10843945" cy="21515024"/>
          </a:xfrm>
        </p:spPr>
        <p:txBody>
          <a:bodyPr/>
          <a:lstStyle>
            <a:lvl1pPr>
              <a:defRPr sz="7496"/>
            </a:lvl1pPr>
            <a:lvl2pPr>
              <a:defRPr sz="6559"/>
            </a:lvl2pPr>
            <a:lvl3pPr>
              <a:defRPr sz="5622"/>
            </a:lvl3pPr>
            <a:lvl4pPr>
              <a:defRPr sz="4685"/>
            </a:lvl4pPr>
            <a:lvl5pPr>
              <a:defRPr sz="4685"/>
            </a:lvl5pPr>
            <a:lvl6pPr>
              <a:defRPr sz="4685"/>
            </a:lvl6pPr>
            <a:lvl7pPr>
              <a:defRPr sz="4685"/>
            </a:lvl7pPr>
            <a:lvl8pPr>
              <a:defRPr sz="4685"/>
            </a:lvl8pPr>
            <a:lvl9pPr>
              <a:defRPr sz="46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363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6349" y="4359077"/>
            <a:ext cx="10843945" cy="21515024"/>
          </a:xfrm>
        </p:spPr>
        <p:txBody>
          <a:bodyPr anchor="t"/>
          <a:lstStyle>
            <a:lvl1pPr marL="0" indent="0">
              <a:buNone/>
              <a:defRPr sz="7496"/>
            </a:lvl1pPr>
            <a:lvl2pPr marL="1070991" indent="0">
              <a:buNone/>
              <a:defRPr sz="6559"/>
            </a:lvl2pPr>
            <a:lvl3pPr marL="2141982" indent="0">
              <a:buNone/>
              <a:defRPr sz="5622"/>
            </a:lvl3pPr>
            <a:lvl4pPr marL="3212973" indent="0">
              <a:buNone/>
              <a:defRPr sz="4685"/>
            </a:lvl4pPr>
            <a:lvl5pPr marL="4283964" indent="0">
              <a:buNone/>
              <a:defRPr sz="4685"/>
            </a:lvl5pPr>
            <a:lvl6pPr marL="5354955" indent="0">
              <a:buNone/>
              <a:defRPr sz="4685"/>
            </a:lvl6pPr>
            <a:lvl7pPr marL="6425946" indent="0">
              <a:buNone/>
              <a:defRPr sz="4685"/>
            </a:lvl7pPr>
            <a:lvl8pPr marL="7496937" indent="0">
              <a:buNone/>
              <a:defRPr sz="4685"/>
            </a:lvl8pPr>
            <a:lvl9pPr marL="8567928" indent="0">
              <a:buNone/>
              <a:defRPr sz="468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242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368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8788" y="1611875"/>
            <a:ext cx="4618717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636" y="1611875"/>
            <a:ext cx="13588400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190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979C4-88EC-9C4B-9267-35BA343BA14B}" type="datetimeFigureOut">
              <a:rPr lang="en-CN" smtClean="0"/>
              <a:t>2026/3/10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DF910-B470-044F-9947-E74BACF2503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331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41982" rtl="0" eaLnBrk="1" latinLnBrk="0" hangingPunct="1">
        <a:lnSpc>
          <a:spcPct val="90000"/>
        </a:lnSpc>
        <a:spcBef>
          <a:spcPct val="0"/>
        </a:spcBef>
        <a:buNone/>
        <a:defRPr sz="103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496" indent="-535496" algn="l" defTabSz="2141982" rtl="0" eaLnBrk="1" latinLnBrk="0" hangingPunct="1">
        <a:lnSpc>
          <a:spcPct val="90000"/>
        </a:lnSpc>
        <a:spcBef>
          <a:spcPts val="2343"/>
        </a:spcBef>
        <a:buFont typeface="Arial" panose="020B0604020202020204" pitchFamily="34" charset="0"/>
        <a:buChar char="•"/>
        <a:defRPr sz="6559" kern="1200">
          <a:solidFill>
            <a:schemeClr val="tx1"/>
          </a:solidFill>
          <a:latin typeface="+mn-lt"/>
          <a:ea typeface="+mn-ea"/>
          <a:cs typeface="+mn-cs"/>
        </a:defRPr>
      </a:lvl1pPr>
      <a:lvl2pPr marL="1606487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2pPr>
      <a:lvl3pPr marL="2677478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3pPr>
      <a:lvl4pPr marL="3748469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819460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890451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961442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8032433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9103424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1pPr>
      <a:lvl2pPr marL="1070991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2pPr>
      <a:lvl3pPr marL="2141982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3pPr>
      <a:lvl4pPr marL="3212973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283964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425946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7496937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8567928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0E4648-CCC5-E983-26A1-0663794D4DFB}"/>
              </a:ext>
            </a:extLst>
          </p:cNvPr>
          <p:cNvSpPr/>
          <p:nvPr/>
        </p:nvSpPr>
        <p:spPr>
          <a:xfrm>
            <a:off x="0" y="0"/>
            <a:ext cx="21420140" cy="2908117"/>
          </a:xfrm>
          <a:prstGeom prst="rect">
            <a:avLst/>
          </a:prstGeom>
          <a:solidFill>
            <a:srgbClr val="366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0EDB25-8610-C8B4-5905-0D2DA4759622}"/>
              </a:ext>
            </a:extLst>
          </p:cNvPr>
          <p:cNvSpPr txBox="1"/>
          <p:nvPr/>
        </p:nvSpPr>
        <p:spPr>
          <a:xfrm>
            <a:off x="1473855" y="130801"/>
            <a:ext cx="184380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Machine Learning Assisted Real-Time Plasma Diagnosis: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Domain-Knowledge-Driven Feature Engineering Enable H</a:t>
            </a:r>
            <a:r>
              <a:rPr lang="en-US" sz="4400" b="1" baseline="-25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</a:t>
            </a:r>
            <a:r>
              <a:rPr lang="en-US" sz="4400" b="1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O</a:t>
            </a:r>
            <a:r>
              <a:rPr lang="en-US" sz="4400" b="1" baseline="-25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 </a:t>
            </a:r>
            <a:r>
              <a:rPr lang="en-US" sz="4400" b="1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Yield Prediction</a:t>
            </a:r>
            <a:endParaRPr lang="en-CN" sz="4000" b="1" dirty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F1040-1642-AD80-FA87-F4F86A8F15DF}"/>
              </a:ext>
            </a:extLst>
          </p:cNvPr>
          <p:cNvSpPr txBox="1"/>
          <p:nvPr/>
        </p:nvSpPr>
        <p:spPr>
          <a:xfrm>
            <a:off x="7178468" y="1689709"/>
            <a:ext cx="702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Supervisor: Xin Tu	Assessor: Xue Yong</a:t>
            </a:r>
          </a:p>
          <a:p>
            <a:pPr algn="ctr"/>
            <a:r>
              <a:rPr lang="en-CN" sz="28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Mingjie Zhu  (201850714)	</a:t>
            </a:r>
          </a:p>
        </p:txBody>
      </p:sp>
      <p:pic>
        <p:nvPicPr>
          <p:cNvPr id="33" name="图片 72">
            <a:extLst>
              <a:ext uri="{FF2B5EF4-FFF2-40B4-BE49-F238E27FC236}">
                <a16:creationId xmlns:a16="http://schemas.microsoft.com/office/drawing/2014/main" id="{CE82D9B4-FF87-FD54-BE3E-B9AA1108C8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7901" y="1403948"/>
            <a:ext cx="4200416" cy="144655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88C311E7-0C99-82C3-A0DE-4E491B7D2ACA}"/>
              </a:ext>
            </a:extLst>
          </p:cNvPr>
          <p:cNvGrpSpPr/>
          <p:nvPr/>
        </p:nvGrpSpPr>
        <p:grpSpPr>
          <a:xfrm>
            <a:off x="7348061" y="9085406"/>
            <a:ext cx="6724016" cy="8711716"/>
            <a:chOff x="440418" y="5694830"/>
            <a:chExt cx="9183262" cy="8711716"/>
          </a:xfrm>
        </p:grpSpPr>
        <p:sp>
          <p:nvSpPr>
            <p:cNvPr id="49" name="Text Box 189">
              <a:extLst>
                <a:ext uri="{FF2B5EF4-FFF2-40B4-BE49-F238E27FC236}">
                  <a16:creationId xmlns:a16="http://schemas.microsoft.com/office/drawing/2014/main" id="{BE3C8062-1114-E101-75D6-0ADD85BA5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18" y="6668631"/>
              <a:ext cx="9183262" cy="773791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200" dirty="0">
                  <a:latin typeface="+mn-lt"/>
                </a:rPr>
                <a:t>Inspired by CNC machining, this project creates an automated drawing machine using an Etch A Sketch board</a:t>
              </a:r>
              <a:r>
                <a:rPr lang="en-US" sz="3200" baseline="30000" dirty="0">
                  <a:latin typeface="Calibri" pitchFamily="34" charset="0"/>
                </a:rPr>
                <a:t>[1]</a:t>
              </a:r>
              <a:r>
                <a:rPr lang="en-US" sz="3200" dirty="0">
                  <a:latin typeface="Calibri" pitchFamily="34" charset="0"/>
                </a:rPr>
                <a:t>.</a:t>
              </a:r>
              <a:r>
                <a:rPr lang="en-US" sz="3200" dirty="0">
                  <a:latin typeface="+mn-lt"/>
                </a:rPr>
                <a:t> </a:t>
              </a:r>
            </a:p>
            <a:p>
              <a:pPr eaLnBrk="1" hangingPunct="1"/>
              <a:endParaRPr lang="en-US" sz="3200" dirty="0">
                <a:latin typeface="+mn-lt"/>
              </a:endParaRPr>
            </a:p>
            <a:p>
              <a:pPr eaLnBrk="1" hangingPunct="1"/>
              <a:r>
                <a:rPr lang="en-US" sz="3200" dirty="0">
                  <a:latin typeface="+mn-lt"/>
                </a:rPr>
                <a:t>It first introduces a software pipeline that transforms digital images into continuous-line drawings. By employing edge detection techniques and a specialized depth-first search (DFS) algorithm, our system generates optimized G-code instructions tailored for our custom-built drawing machine.</a:t>
              </a:r>
            </a:p>
            <a:p>
              <a:pPr eaLnBrk="1" hangingPunct="1"/>
              <a:br>
                <a:rPr lang="en-US" sz="3200" dirty="0">
                  <a:latin typeface="+mn-lt"/>
                </a:rPr>
              </a:br>
              <a:r>
                <a:rPr lang="en-US" sz="3200" dirty="0">
                  <a:latin typeface="+mn-lt"/>
                </a:rPr>
                <a:t>The hardware system interprets these instructions and uses two stepper motors to precisely control the Etch A Sketch knobs, allowing the machine to replicate digital images as physical sketches.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D5B111A-B4E9-6D13-00F1-85495135907E}"/>
                </a:ext>
              </a:extLst>
            </p:cNvPr>
            <p:cNvSpPr/>
            <p:nvPr/>
          </p:nvSpPr>
          <p:spPr>
            <a:xfrm>
              <a:off x="440418" y="5694830"/>
              <a:ext cx="9183262" cy="97380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Results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355F9A-B3D3-A17F-1418-060C39543E24}"/>
              </a:ext>
            </a:extLst>
          </p:cNvPr>
          <p:cNvGrpSpPr/>
          <p:nvPr/>
        </p:nvGrpSpPr>
        <p:grpSpPr>
          <a:xfrm>
            <a:off x="229885" y="3091330"/>
            <a:ext cx="6748634" cy="14928802"/>
            <a:chOff x="440418" y="5694830"/>
            <a:chExt cx="9183262" cy="14928802"/>
          </a:xfrm>
        </p:grpSpPr>
        <p:sp>
          <p:nvSpPr>
            <p:cNvPr id="52" name="Text Box 189">
              <a:extLst>
                <a:ext uri="{FF2B5EF4-FFF2-40B4-BE49-F238E27FC236}">
                  <a16:creationId xmlns:a16="http://schemas.microsoft.com/office/drawing/2014/main" id="{11367713-F6E8-F588-F90C-BE8C07A70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18" y="6668631"/>
              <a:ext cx="9183262" cy="139550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latin typeface="+mn-lt"/>
                </a:rPr>
                <a:t>Nanosecond pulsed CO2 bubble discharge demonstrates novel pathway that utilizes plasma technology  to convert CO2 into useful chemical products, such as H2 and H2O2[1]. </a:t>
              </a: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>
                <a:spcAft>
                  <a:spcPts val="1200"/>
                </a:spcAft>
              </a:pPr>
              <a:r>
                <a:rPr lang="en-US" sz="2400" dirty="0">
                  <a:latin typeface="+mn-lt"/>
                </a:rPr>
                <a:t>Optical Emission Spectroscopy (OES) is a cost-effective instrument that enables non-intrusive, real-time measurement into the status of plasma. </a:t>
              </a:r>
            </a:p>
            <a:p>
              <a:pPr eaLnBrk="1" hangingPunct="1">
                <a:spcAft>
                  <a:spcPts val="1200"/>
                </a:spcAft>
              </a:pPr>
              <a:r>
                <a:rPr lang="en-US" sz="2400" dirty="0">
                  <a:latin typeface="+mn-lt"/>
                </a:rPr>
                <a:t>In this research, </a:t>
              </a:r>
              <a:r>
                <a:rPr lang="en-US" sz="2400" b="1" dirty="0">
                  <a:latin typeface="+mn-lt"/>
                </a:rPr>
                <a:t>OES spectrum, combined with reaction discharge parameters</a:t>
              </a:r>
              <a:r>
                <a:rPr lang="en-US" sz="2400" dirty="0">
                  <a:latin typeface="+mn-lt"/>
                </a:rPr>
                <a:t>, are engineered to build informative features that allow Machine Learning models (i.e. linear regression, artificial neural network) to recognize and </a:t>
              </a:r>
              <a:r>
                <a:rPr lang="en-US" sz="2400" b="1" dirty="0">
                  <a:latin typeface="+mn-lt"/>
                </a:rPr>
                <a:t>predict H2O2 yield</a:t>
              </a:r>
              <a:r>
                <a:rPr lang="en-US" sz="2400" dirty="0">
                  <a:latin typeface="+mn-lt"/>
                </a:rPr>
                <a:t>. Data used in this research is collected from Gao et al.[1]</a:t>
              </a: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endParaRPr lang="en-US" sz="2400" dirty="0">
                <a:latin typeface="+mn-lt"/>
              </a:endParaRPr>
            </a:p>
            <a:p>
              <a:pPr eaLnBrk="1" hangingPunct="1"/>
              <a:br>
                <a:rPr lang="en-US" sz="2400" dirty="0">
                  <a:latin typeface="+mn-lt"/>
                </a:rPr>
              </a:br>
              <a:br>
                <a:rPr lang="en-US" sz="2400" dirty="0">
                  <a:latin typeface="+mn-lt"/>
                </a:rPr>
              </a:br>
              <a:endParaRPr lang="en-US" sz="2400" dirty="0">
                <a:latin typeface="+mn-lt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9AF8757-41ED-FFFA-5384-C33B63700FE3}"/>
                </a:ext>
              </a:extLst>
            </p:cNvPr>
            <p:cNvSpPr/>
            <p:nvPr/>
          </p:nvSpPr>
          <p:spPr>
            <a:xfrm>
              <a:off x="440418" y="5694830"/>
              <a:ext cx="9183262" cy="97380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Introduction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64BEBB4-2B07-8A00-0D3E-4D50D99D61F4}"/>
              </a:ext>
            </a:extLst>
          </p:cNvPr>
          <p:cNvGrpSpPr/>
          <p:nvPr/>
        </p:nvGrpSpPr>
        <p:grpSpPr>
          <a:xfrm>
            <a:off x="14392421" y="3091330"/>
            <a:ext cx="6748634" cy="8711716"/>
            <a:chOff x="440418" y="5694830"/>
            <a:chExt cx="9183262" cy="8711716"/>
          </a:xfrm>
        </p:grpSpPr>
        <p:sp>
          <p:nvSpPr>
            <p:cNvPr id="58" name="Text Box 189">
              <a:extLst>
                <a:ext uri="{FF2B5EF4-FFF2-40B4-BE49-F238E27FC236}">
                  <a16:creationId xmlns:a16="http://schemas.microsoft.com/office/drawing/2014/main" id="{31DB89BC-58E0-5E44-5C43-8A5243839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18" y="6668631"/>
              <a:ext cx="9183262" cy="773791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200" dirty="0">
                  <a:latin typeface="+mn-lt"/>
                </a:rPr>
                <a:t>Inspired by CNC machining, this project creates an automated drawing machine using an Etch A Sketch board</a:t>
              </a:r>
              <a:r>
                <a:rPr lang="en-US" sz="3200" baseline="30000" dirty="0">
                  <a:latin typeface="Calibri" pitchFamily="34" charset="0"/>
                </a:rPr>
                <a:t>[1]</a:t>
              </a:r>
              <a:r>
                <a:rPr lang="en-US" sz="3200" dirty="0">
                  <a:latin typeface="Calibri" pitchFamily="34" charset="0"/>
                </a:rPr>
                <a:t>.</a:t>
              </a:r>
              <a:r>
                <a:rPr lang="en-US" sz="3200" dirty="0">
                  <a:latin typeface="+mn-lt"/>
                </a:rPr>
                <a:t> </a:t>
              </a:r>
            </a:p>
            <a:p>
              <a:pPr eaLnBrk="1" hangingPunct="1"/>
              <a:endParaRPr lang="en-US" sz="3200" dirty="0">
                <a:latin typeface="+mn-lt"/>
              </a:endParaRPr>
            </a:p>
            <a:p>
              <a:pPr eaLnBrk="1" hangingPunct="1"/>
              <a:r>
                <a:rPr lang="en-US" sz="3200" dirty="0">
                  <a:latin typeface="+mn-lt"/>
                </a:rPr>
                <a:t>It first introduces a software pipeline that transforms digital images into continuous-line drawings. By employing edge detection techniques and a specialized depth-first search (DFS) algorithm, our system generates optimized G-code instructions tailored for our custom-built drawing machine.</a:t>
              </a:r>
            </a:p>
            <a:p>
              <a:pPr eaLnBrk="1" hangingPunct="1"/>
              <a:br>
                <a:rPr lang="en-US" sz="3200" dirty="0">
                  <a:latin typeface="+mn-lt"/>
                </a:rPr>
              </a:br>
              <a:r>
                <a:rPr lang="en-US" sz="3200" dirty="0">
                  <a:latin typeface="+mn-lt"/>
                </a:rPr>
                <a:t>The hardware system interprets these instructions and uses two stepper motors to precisely control the Etch A Sketch knobs, allowing the machine to replicate digital images as physical sketches.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3D28B58-D871-A128-44C7-E9F0E35DAAEB}"/>
                </a:ext>
              </a:extLst>
            </p:cNvPr>
            <p:cNvSpPr/>
            <p:nvPr/>
          </p:nvSpPr>
          <p:spPr>
            <a:xfrm>
              <a:off x="440418" y="5694830"/>
              <a:ext cx="9183262" cy="97380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Introduction</a:t>
              </a:r>
            </a:p>
          </p:txBody>
        </p:sp>
      </p:grpSp>
      <p:pic>
        <p:nvPicPr>
          <p:cNvPr id="1029" name="Picture 5" descr="Schematic diagram of experimental setup.">
            <a:extLst>
              <a:ext uri="{FF2B5EF4-FFF2-40B4-BE49-F238E27FC236}">
                <a16:creationId xmlns:a16="http://schemas.microsoft.com/office/drawing/2014/main" id="{FCA622DA-7B21-8627-4272-39CB7D626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065" y="5725782"/>
            <a:ext cx="4187216" cy="335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996D8F0-137B-63DD-86A7-74B0537DA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647" y="13913567"/>
            <a:ext cx="4777310" cy="358298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CE60D2E9-18EC-7A44-614B-498DB790D767}"/>
              </a:ext>
            </a:extLst>
          </p:cNvPr>
          <p:cNvGrpSpPr/>
          <p:nvPr/>
        </p:nvGrpSpPr>
        <p:grpSpPr>
          <a:xfrm>
            <a:off x="229885" y="18199581"/>
            <a:ext cx="6748634" cy="10958485"/>
            <a:chOff x="440418" y="5694830"/>
            <a:chExt cx="9183262" cy="10958485"/>
          </a:xfrm>
        </p:grpSpPr>
        <p:sp>
          <p:nvSpPr>
            <p:cNvPr id="62" name="Text Box 189">
              <a:extLst>
                <a:ext uri="{FF2B5EF4-FFF2-40B4-BE49-F238E27FC236}">
                  <a16:creationId xmlns:a16="http://schemas.microsoft.com/office/drawing/2014/main" id="{E7D69C59-0935-BBC8-C3FC-5D2657984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418" y="6668631"/>
              <a:ext cx="9183262" cy="9984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Aft>
                  <a:spcPts val="600"/>
                </a:spcAft>
              </a:pPr>
              <a:r>
                <a:rPr lang="en-US" sz="2400" dirty="0">
                  <a:latin typeface="+mn-lt"/>
                </a:rPr>
                <a:t>The project is conducted in </a:t>
              </a:r>
              <a:r>
                <a:rPr lang="en-US" sz="2400" b="1" dirty="0">
                  <a:latin typeface="+mn-lt"/>
                </a:rPr>
                <a:t>4 iterative phases</a:t>
              </a:r>
              <a:r>
                <a:rPr lang="en-US" sz="2400" dirty="0">
                  <a:latin typeface="+mn-lt"/>
                </a:rPr>
                <a:t>, each building on the previous one to enhance model performance and interpretability.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sz="2400" b="1" dirty="0">
                  <a:latin typeface="+mn-lt"/>
                </a:rPr>
                <a:t>Phase 1</a:t>
              </a:r>
              <a:r>
                <a:rPr lang="en-US" sz="2400" dirty="0">
                  <a:latin typeface="+mn-lt"/>
                </a:rPr>
                <a:t>: Baseline modeling with PCA-reduced OES features + discharge parameters.</a:t>
              </a: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+mn-lt"/>
                </a:rPr>
                <a:t>Models tested: Ridge, PLS, SVR, </a:t>
              </a:r>
              <a:r>
                <a:rPr lang="en-US" sz="2400" dirty="0" err="1">
                  <a:latin typeface="+mn-lt"/>
                </a:rPr>
                <a:t>XGBoost</a:t>
              </a:r>
              <a:r>
                <a:rPr lang="en-US" sz="2400" dirty="0">
                  <a:latin typeface="+mn-lt"/>
                </a:rPr>
                <a:t>, RF, MLP, CNN.</a:t>
              </a: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+mn-lt"/>
                </a:rPr>
                <a:t>Three configs of features are used as input data for models. </a:t>
              </a:r>
              <a:br>
                <a:rPr lang="en-US" sz="2400" dirty="0">
                  <a:latin typeface="+mn-lt"/>
                </a:rPr>
              </a:br>
              <a:endParaRPr lang="en-US" sz="2400" dirty="0">
                <a:latin typeface="+mn-lt"/>
              </a:endParaRP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400" dirty="0">
                <a:latin typeface="+mn-lt"/>
              </a:endParaRPr>
            </a:p>
            <a:p>
              <a:pPr eaLnBrk="1" hangingPunct="1">
                <a:spcAft>
                  <a:spcPts val="600"/>
                </a:spcAft>
              </a:pPr>
              <a:r>
                <a:rPr lang="en-US" sz="2400" b="1" dirty="0">
                  <a:latin typeface="+mn-lt"/>
                </a:rPr>
                <a:t>Phase 2</a:t>
              </a:r>
              <a:r>
                <a:rPr lang="en-US" sz="2400" dirty="0">
                  <a:latin typeface="+mn-lt"/>
                </a:rPr>
                <a:t>: Hyperparameter tuning of nonlinear models (RF, MLP, CNN) using Bayesian optimization.</a:t>
              </a: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+mn-lt"/>
                </a:rPr>
                <a:t>Applied </a:t>
              </a:r>
              <a:r>
                <a:rPr lang="en-US" sz="2400" dirty="0" err="1">
                  <a:latin typeface="+mn-lt"/>
                </a:rPr>
                <a:t>Optuna</a:t>
              </a:r>
              <a:r>
                <a:rPr lang="en-US" sz="2400" dirty="0">
                  <a:latin typeface="+mn-lt"/>
                </a:rPr>
                <a:t> (TPE sampler) with nested LOOCV. </a:t>
              </a: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+mn-lt"/>
                </a:rPr>
                <a:t>Tuned RF, MLP and CNN with over 100 trails per model-config pair.</a:t>
              </a:r>
            </a:p>
            <a:p>
              <a:pPr eaLnBrk="1" hangingPunct="1">
                <a:spcAft>
                  <a:spcPts val="600"/>
                </a:spcAft>
              </a:pPr>
              <a:r>
                <a:rPr lang="en-US" sz="2400" b="1" dirty="0">
                  <a:latin typeface="+mn-lt"/>
                </a:rPr>
                <a:t>Phase 3</a:t>
              </a:r>
              <a:r>
                <a:rPr lang="en-US" sz="2400" dirty="0">
                  <a:latin typeface="+mn-lt"/>
                </a:rPr>
                <a:t>: Manually construction input features based on plasma chemistry domain-knowledge.</a:t>
              </a: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2400" dirty="0">
                  <a:latin typeface="+mn-lt"/>
                </a:rPr>
                <a:t>Construct</a:t>
              </a:r>
              <a:r>
                <a:rPr lang="en-US" sz="2400" dirty="0">
                  <a:latin typeface="+mn-lt"/>
                </a:rPr>
                <a:t> physically meaningful features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altLang="zh-CN" sz="2400" dirty="0">
                  <a:latin typeface="+mn-lt"/>
                </a:rPr>
                <a:t>instead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altLang="zh-CN" sz="2400" dirty="0">
                  <a:latin typeface="+mn-lt"/>
                </a:rPr>
                <a:t>of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sz="2400" dirty="0">
                  <a:latin typeface="+mn-lt"/>
                </a:rPr>
                <a:t>PCA-selected OES components</a:t>
              </a:r>
              <a:r>
                <a:rPr lang="en-US" altLang="zh-CN" sz="2400" dirty="0">
                  <a:latin typeface="+mn-lt"/>
                </a:rPr>
                <a:t>.</a:t>
              </a:r>
            </a:p>
            <a:p>
              <a:pPr marL="342900" indent="-342900" eaLnBrk="1" hangingPunct="1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zh-CN" sz="2400" dirty="0">
                  <a:latin typeface="+mn-lt"/>
                </a:rPr>
                <a:t>U</a:t>
              </a:r>
              <a:r>
                <a:rPr lang="en-US" sz="2400" dirty="0">
                  <a:latin typeface="+mn-lt"/>
                </a:rPr>
                <a:t>pdate three </a:t>
              </a:r>
              <a:r>
                <a:rPr lang="en-US" altLang="zh-CN" sz="2400" dirty="0">
                  <a:latin typeface="+mn-lt"/>
                </a:rPr>
                <a:t>training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altLang="zh-CN" sz="2400" dirty="0">
                  <a:latin typeface="+mn-lt"/>
                </a:rPr>
                <a:t>input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sz="2400" dirty="0">
                  <a:latin typeface="+mn-lt"/>
                </a:rPr>
                <a:t>configs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altLang="zh-CN" sz="2400" dirty="0">
                  <a:latin typeface="+mn-lt"/>
                </a:rPr>
                <a:t>with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altLang="zh-CN" sz="2400" dirty="0">
                  <a:latin typeface="+mn-lt"/>
                </a:rPr>
                <a:t>new</a:t>
              </a:r>
              <a:r>
                <a:rPr lang="zh-CN" altLang="en-US" sz="2400" dirty="0">
                  <a:latin typeface="+mn-lt"/>
                </a:rPr>
                <a:t> </a:t>
              </a:r>
              <a:r>
                <a:rPr lang="en-US" altLang="zh-CN" sz="2400" dirty="0">
                  <a:latin typeface="+mn-lt"/>
                </a:rPr>
                <a:t>features</a:t>
              </a:r>
              <a:r>
                <a:rPr lang="en-US" sz="2400" dirty="0">
                  <a:latin typeface="+mn-lt"/>
                </a:rPr>
                <a:t>.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84DA1A1-38BF-844A-D549-D04E388006A4}"/>
                </a:ext>
              </a:extLst>
            </p:cNvPr>
            <p:cNvSpPr/>
            <p:nvPr/>
          </p:nvSpPr>
          <p:spPr>
            <a:xfrm>
              <a:off x="440418" y="5694830"/>
              <a:ext cx="9183262" cy="97380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Methodology</a:t>
              </a:r>
            </a:p>
          </p:txBody>
        </p:sp>
      </p:grpSp>
      <p:pic>
        <p:nvPicPr>
          <p:cNvPr id="1026" name="Picture 1025">
            <a:extLst>
              <a:ext uri="{FF2B5EF4-FFF2-40B4-BE49-F238E27FC236}">
                <a16:creationId xmlns:a16="http://schemas.microsoft.com/office/drawing/2014/main" id="{F60A19EB-6313-5386-3248-D7D54E3A5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647" y="22805945"/>
            <a:ext cx="4067653" cy="1062875"/>
          </a:xfrm>
          <a:prstGeom prst="rect">
            <a:avLst/>
          </a:prstGeom>
        </p:spPr>
      </p:pic>
      <p:sp>
        <p:nvSpPr>
          <p:cNvPr id="1028" name="Rectangle 1027">
            <a:extLst>
              <a:ext uri="{FF2B5EF4-FFF2-40B4-BE49-F238E27FC236}">
                <a16:creationId xmlns:a16="http://schemas.microsoft.com/office/drawing/2014/main" id="{730FCA34-DC1C-7B2E-3263-D5908DF662D8}"/>
              </a:ext>
            </a:extLst>
          </p:cNvPr>
          <p:cNvSpPr/>
          <p:nvPr/>
        </p:nvSpPr>
        <p:spPr>
          <a:xfrm>
            <a:off x="0" y="29301411"/>
            <a:ext cx="21695418" cy="973802"/>
          </a:xfrm>
          <a:prstGeom prst="rect">
            <a:avLst/>
          </a:prstGeom>
          <a:solidFill>
            <a:srgbClr val="355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96" dirty="0"/>
              <a:t>`</a:t>
            </a:r>
            <a:endParaRPr lang="en-CN" sz="4096" dirty="0"/>
          </a:p>
        </p:txBody>
      </p:sp>
      <p:sp>
        <p:nvSpPr>
          <p:cNvPr id="1031" name="Text Box 189">
            <a:extLst>
              <a:ext uri="{FF2B5EF4-FFF2-40B4-BE49-F238E27FC236}">
                <a16:creationId xmlns:a16="http://schemas.microsoft.com/office/drawing/2014/main" id="{A3F1484F-2201-0648-A414-29FF4773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8061" y="3091330"/>
            <a:ext cx="6724016" cy="573736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b="1" dirty="0">
                <a:latin typeface="+mn-lt"/>
              </a:rPr>
              <a:t>P</a:t>
            </a:r>
            <a:r>
              <a:rPr lang="en-US" altLang="zh-CN" sz="2400" b="1" dirty="0">
                <a:latin typeface="+mn-lt"/>
              </a:rPr>
              <a:t>hase</a:t>
            </a:r>
            <a:r>
              <a:rPr lang="zh-CN" altLang="en-US" sz="2400" b="1" dirty="0"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4:</a:t>
            </a:r>
            <a:r>
              <a:rPr lang="en-US" altLang="zh-CN" sz="2400" dirty="0">
                <a:latin typeface="+mn-lt"/>
              </a:rPr>
              <a:t> </a:t>
            </a:r>
            <a:r>
              <a:rPr lang="en-US" dirty="0"/>
              <a:t>Interpretability analysis and feature reduction via multi-model consensus and backward elimination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Evaluate feature importance for each model via different methods.</a:t>
            </a:r>
          </a:p>
          <a:p>
            <a:endParaRPr lang="en-US" dirty="0"/>
          </a:p>
          <a:p>
            <a:pPr eaLnBrk="1" hangingPunct="1"/>
            <a:endParaRPr lang="en-US" sz="2400" dirty="0">
              <a:latin typeface="+mn-lt"/>
            </a:endParaRPr>
          </a:p>
          <a:p>
            <a:pPr eaLnBrk="1" hangingPunct="1"/>
            <a:endParaRPr lang="en-US" sz="2400" dirty="0">
              <a:latin typeface="+mn-lt"/>
            </a:endParaRPr>
          </a:p>
          <a:p>
            <a:pPr eaLnBrk="1" hangingPunct="1"/>
            <a:endParaRPr lang="en-US" sz="2400" dirty="0">
              <a:latin typeface="+mn-lt"/>
            </a:endParaRPr>
          </a:p>
          <a:p>
            <a:pPr eaLnBrk="1" hangingPunct="1"/>
            <a:endParaRPr lang="en-US" sz="2400" dirty="0">
              <a:latin typeface="+mn-lt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Evaluate R</a:t>
            </a:r>
            <a:r>
              <a:rPr lang="en-US" sz="2400" baseline="30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/>
              <a:t>confidence interval </a:t>
            </a:r>
            <a:r>
              <a:rPr lang="en-US" sz="2400" dirty="0">
                <a:latin typeface="+mn-lt"/>
              </a:rPr>
              <a:t>of  Ridge and PLS using bootstrap resampling,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Examine the overall best model and config via eliminating features.</a:t>
            </a:r>
          </a:p>
          <a:p>
            <a:pPr eaLnBrk="1" hangingPunct="1"/>
            <a:endParaRPr lang="en-US" sz="2400" dirty="0">
              <a:latin typeface="+mn-lt"/>
            </a:endParaRPr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034E1230-AC65-D4BF-2133-4BB6ECEC25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6413" y="4998748"/>
            <a:ext cx="5827312" cy="178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73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</TotalTime>
  <Words>519</Words>
  <Application>Microsoft Macintosh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Mingjie Zhu</dc:creator>
  <cp:lastModifiedBy>Mingjie Zhu</cp:lastModifiedBy>
  <cp:revision>85</cp:revision>
  <dcterms:created xsi:type="dcterms:W3CDTF">2026-03-10T19:35:33Z</dcterms:created>
  <dcterms:modified xsi:type="dcterms:W3CDTF">2026-03-11T01:37:31Z</dcterms:modified>
</cp:coreProperties>
</file>