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3"/>
  </p:notesMasterIdLst>
  <p:sldIdLst>
    <p:sldId id="256" r:id="rId2"/>
  </p:sldIdLst>
  <p:sldSz cx="21420138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55F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525"/>
    <p:restoredTop sz="97193"/>
  </p:normalViewPr>
  <p:slideViewPr>
    <p:cSldViewPr snapToGrid="0">
      <p:cViewPr>
        <p:scale>
          <a:sx n="95" d="100"/>
          <a:sy n="95" d="100"/>
        </p:scale>
        <p:origin x="928" y="14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400" d="100"/>
        <a:sy n="4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312384-EEA0-B942-9C1C-50C8244C080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6800" y="1143000"/>
            <a:ext cx="2184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DED516-323A-B240-BE4E-EB4CA4F0357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51390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36800" y="1143000"/>
            <a:ext cx="2184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ED516-323A-B240-BE4E-EB4CA4F03577}" type="slidenum">
              <a:rPr lang="en-CN" smtClean="0"/>
              <a:t>1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8903178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6511" y="4954765"/>
            <a:ext cx="18207117" cy="10540259"/>
          </a:xfrm>
        </p:spPr>
        <p:txBody>
          <a:bodyPr anchor="b"/>
          <a:lstStyle>
            <a:lvl1pPr algn="ctr">
              <a:defRPr sz="1405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7517" y="15901497"/>
            <a:ext cx="16065104" cy="7309499"/>
          </a:xfrm>
        </p:spPr>
        <p:txBody>
          <a:bodyPr/>
          <a:lstStyle>
            <a:lvl1pPr marL="0" indent="0" algn="ctr">
              <a:buNone/>
              <a:defRPr sz="5622"/>
            </a:lvl1pPr>
            <a:lvl2pPr marL="1070991" indent="0" algn="ctr">
              <a:buNone/>
              <a:defRPr sz="4685"/>
            </a:lvl2pPr>
            <a:lvl3pPr marL="2141982" indent="0" algn="ctr">
              <a:buNone/>
              <a:defRPr sz="4217"/>
            </a:lvl3pPr>
            <a:lvl4pPr marL="3212973" indent="0" algn="ctr">
              <a:buNone/>
              <a:defRPr sz="3748"/>
            </a:lvl4pPr>
            <a:lvl5pPr marL="4283964" indent="0" algn="ctr">
              <a:buNone/>
              <a:defRPr sz="3748"/>
            </a:lvl5pPr>
            <a:lvl6pPr marL="5354955" indent="0" algn="ctr">
              <a:buNone/>
              <a:defRPr sz="3748"/>
            </a:lvl6pPr>
            <a:lvl7pPr marL="6425946" indent="0" algn="ctr">
              <a:buNone/>
              <a:defRPr sz="3748"/>
            </a:lvl7pPr>
            <a:lvl8pPr marL="7496937" indent="0" algn="ctr">
              <a:buNone/>
              <a:defRPr sz="3748"/>
            </a:lvl8pPr>
            <a:lvl9pPr marL="8567928" indent="0" algn="ctr">
              <a:buNone/>
              <a:defRPr sz="374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5741464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6415834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61479" y="7547788"/>
            <a:ext cx="18474869" cy="12593645"/>
          </a:xfrm>
        </p:spPr>
        <p:txBody>
          <a:bodyPr anchor="b"/>
          <a:lstStyle>
            <a:lvl1pPr>
              <a:defRPr sz="1405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61479" y="20260574"/>
            <a:ext cx="18474869" cy="6622701"/>
          </a:xfrm>
        </p:spPr>
        <p:txBody>
          <a:bodyPr/>
          <a:lstStyle>
            <a:lvl1pPr marL="0" indent="0">
              <a:buNone/>
              <a:defRPr sz="5622">
                <a:solidFill>
                  <a:schemeClr val="tx1">
                    <a:tint val="82000"/>
                  </a:schemeClr>
                </a:solidFill>
              </a:defRPr>
            </a:lvl1pPr>
            <a:lvl2pPr marL="1070991" indent="0">
              <a:buNone/>
              <a:defRPr sz="4685">
                <a:solidFill>
                  <a:schemeClr val="tx1">
                    <a:tint val="82000"/>
                  </a:schemeClr>
                </a:solidFill>
              </a:defRPr>
            </a:lvl2pPr>
            <a:lvl3pPr marL="2141982" indent="0">
              <a:buNone/>
              <a:defRPr sz="4217">
                <a:solidFill>
                  <a:schemeClr val="tx1">
                    <a:tint val="82000"/>
                  </a:schemeClr>
                </a:solidFill>
              </a:defRPr>
            </a:lvl3pPr>
            <a:lvl4pPr marL="3212973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4pPr>
            <a:lvl5pPr marL="4283964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5pPr>
            <a:lvl6pPr marL="5354955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6pPr>
            <a:lvl7pPr marL="6425946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7pPr>
            <a:lvl8pPr marL="7496937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8pPr>
            <a:lvl9pPr marL="8567928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89695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2634" y="8059374"/>
            <a:ext cx="9103559" cy="192093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43945" y="8059374"/>
            <a:ext cx="9103559" cy="192093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588615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424" y="1611882"/>
            <a:ext cx="18474869" cy="585180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5427" y="7421634"/>
            <a:ext cx="9061721" cy="3637228"/>
          </a:xfrm>
        </p:spPr>
        <p:txBody>
          <a:bodyPr anchor="b"/>
          <a:lstStyle>
            <a:lvl1pPr marL="0" indent="0">
              <a:buNone/>
              <a:defRPr sz="5622" b="1"/>
            </a:lvl1pPr>
            <a:lvl2pPr marL="1070991" indent="0">
              <a:buNone/>
              <a:defRPr sz="4685" b="1"/>
            </a:lvl2pPr>
            <a:lvl3pPr marL="2141982" indent="0">
              <a:buNone/>
              <a:defRPr sz="4217" b="1"/>
            </a:lvl3pPr>
            <a:lvl4pPr marL="3212973" indent="0">
              <a:buNone/>
              <a:defRPr sz="3748" b="1"/>
            </a:lvl4pPr>
            <a:lvl5pPr marL="4283964" indent="0">
              <a:buNone/>
              <a:defRPr sz="3748" b="1"/>
            </a:lvl5pPr>
            <a:lvl6pPr marL="5354955" indent="0">
              <a:buNone/>
              <a:defRPr sz="3748" b="1"/>
            </a:lvl6pPr>
            <a:lvl7pPr marL="6425946" indent="0">
              <a:buNone/>
              <a:defRPr sz="3748" b="1"/>
            </a:lvl7pPr>
            <a:lvl8pPr marL="7496937" indent="0">
              <a:buNone/>
              <a:defRPr sz="3748" b="1"/>
            </a:lvl8pPr>
            <a:lvl9pPr marL="8567928" indent="0">
              <a:buNone/>
              <a:defRPr sz="374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5427" y="11058863"/>
            <a:ext cx="9061721" cy="162659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43946" y="7421634"/>
            <a:ext cx="9106349" cy="3637228"/>
          </a:xfrm>
        </p:spPr>
        <p:txBody>
          <a:bodyPr anchor="b"/>
          <a:lstStyle>
            <a:lvl1pPr marL="0" indent="0">
              <a:buNone/>
              <a:defRPr sz="5622" b="1"/>
            </a:lvl1pPr>
            <a:lvl2pPr marL="1070991" indent="0">
              <a:buNone/>
              <a:defRPr sz="4685" b="1"/>
            </a:lvl2pPr>
            <a:lvl3pPr marL="2141982" indent="0">
              <a:buNone/>
              <a:defRPr sz="4217" b="1"/>
            </a:lvl3pPr>
            <a:lvl4pPr marL="3212973" indent="0">
              <a:buNone/>
              <a:defRPr sz="3748" b="1"/>
            </a:lvl4pPr>
            <a:lvl5pPr marL="4283964" indent="0">
              <a:buNone/>
              <a:defRPr sz="3748" b="1"/>
            </a:lvl5pPr>
            <a:lvl6pPr marL="5354955" indent="0">
              <a:buNone/>
              <a:defRPr sz="3748" b="1"/>
            </a:lvl6pPr>
            <a:lvl7pPr marL="6425946" indent="0">
              <a:buNone/>
              <a:defRPr sz="3748" b="1"/>
            </a:lvl7pPr>
            <a:lvl8pPr marL="7496937" indent="0">
              <a:buNone/>
              <a:defRPr sz="3748" b="1"/>
            </a:lvl8pPr>
            <a:lvl9pPr marL="8567928" indent="0">
              <a:buNone/>
              <a:defRPr sz="374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43946" y="11058863"/>
            <a:ext cx="9106349" cy="162659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01044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63416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795831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424" y="2018348"/>
            <a:ext cx="6908552" cy="7064216"/>
          </a:xfrm>
        </p:spPr>
        <p:txBody>
          <a:bodyPr anchor="b"/>
          <a:lstStyle>
            <a:lvl1pPr>
              <a:defRPr sz="74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06349" y="4359077"/>
            <a:ext cx="10843945" cy="21515024"/>
          </a:xfrm>
        </p:spPr>
        <p:txBody>
          <a:bodyPr/>
          <a:lstStyle>
            <a:lvl1pPr>
              <a:defRPr sz="7496"/>
            </a:lvl1pPr>
            <a:lvl2pPr>
              <a:defRPr sz="6559"/>
            </a:lvl2pPr>
            <a:lvl3pPr>
              <a:defRPr sz="5622"/>
            </a:lvl3pPr>
            <a:lvl4pPr>
              <a:defRPr sz="4685"/>
            </a:lvl4pPr>
            <a:lvl5pPr>
              <a:defRPr sz="4685"/>
            </a:lvl5pPr>
            <a:lvl6pPr>
              <a:defRPr sz="4685"/>
            </a:lvl6pPr>
            <a:lvl7pPr>
              <a:defRPr sz="4685"/>
            </a:lvl7pPr>
            <a:lvl8pPr>
              <a:defRPr sz="4685"/>
            </a:lvl8pPr>
            <a:lvl9pPr>
              <a:defRPr sz="468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5424" y="9082564"/>
            <a:ext cx="6908552" cy="16826573"/>
          </a:xfrm>
        </p:spPr>
        <p:txBody>
          <a:bodyPr/>
          <a:lstStyle>
            <a:lvl1pPr marL="0" indent="0">
              <a:buNone/>
              <a:defRPr sz="3748"/>
            </a:lvl1pPr>
            <a:lvl2pPr marL="1070991" indent="0">
              <a:buNone/>
              <a:defRPr sz="3280"/>
            </a:lvl2pPr>
            <a:lvl3pPr marL="2141982" indent="0">
              <a:buNone/>
              <a:defRPr sz="2811"/>
            </a:lvl3pPr>
            <a:lvl4pPr marL="3212973" indent="0">
              <a:buNone/>
              <a:defRPr sz="2343"/>
            </a:lvl4pPr>
            <a:lvl5pPr marL="4283964" indent="0">
              <a:buNone/>
              <a:defRPr sz="2343"/>
            </a:lvl5pPr>
            <a:lvl6pPr marL="5354955" indent="0">
              <a:buNone/>
              <a:defRPr sz="2343"/>
            </a:lvl6pPr>
            <a:lvl7pPr marL="6425946" indent="0">
              <a:buNone/>
              <a:defRPr sz="2343"/>
            </a:lvl7pPr>
            <a:lvl8pPr marL="7496937" indent="0">
              <a:buNone/>
              <a:defRPr sz="2343"/>
            </a:lvl8pPr>
            <a:lvl9pPr marL="8567928" indent="0">
              <a:buNone/>
              <a:defRPr sz="234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43638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424" y="2018348"/>
            <a:ext cx="6908552" cy="7064216"/>
          </a:xfrm>
        </p:spPr>
        <p:txBody>
          <a:bodyPr anchor="b"/>
          <a:lstStyle>
            <a:lvl1pPr>
              <a:defRPr sz="74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06349" y="4359077"/>
            <a:ext cx="10843945" cy="21515024"/>
          </a:xfrm>
        </p:spPr>
        <p:txBody>
          <a:bodyPr anchor="t"/>
          <a:lstStyle>
            <a:lvl1pPr marL="0" indent="0">
              <a:buNone/>
              <a:defRPr sz="7496"/>
            </a:lvl1pPr>
            <a:lvl2pPr marL="1070991" indent="0">
              <a:buNone/>
              <a:defRPr sz="6559"/>
            </a:lvl2pPr>
            <a:lvl3pPr marL="2141982" indent="0">
              <a:buNone/>
              <a:defRPr sz="5622"/>
            </a:lvl3pPr>
            <a:lvl4pPr marL="3212973" indent="0">
              <a:buNone/>
              <a:defRPr sz="4685"/>
            </a:lvl4pPr>
            <a:lvl5pPr marL="4283964" indent="0">
              <a:buNone/>
              <a:defRPr sz="4685"/>
            </a:lvl5pPr>
            <a:lvl6pPr marL="5354955" indent="0">
              <a:buNone/>
              <a:defRPr sz="4685"/>
            </a:lvl6pPr>
            <a:lvl7pPr marL="6425946" indent="0">
              <a:buNone/>
              <a:defRPr sz="4685"/>
            </a:lvl7pPr>
            <a:lvl8pPr marL="7496937" indent="0">
              <a:buNone/>
              <a:defRPr sz="4685"/>
            </a:lvl8pPr>
            <a:lvl9pPr marL="8567928" indent="0">
              <a:buNone/>
              <a:defRPr sz="468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5424" y="9082564"/>
            <a:ext cx="6908552" cy="16826573"/>
          </a:xfrm>
        </p:spPr>
        <p:txBody>
          <a:bodyPr/>
          <a:lstStyle>
            <a:lvl1pPr marL="0" indent="0">
              <a:buNone/>
              <a:defRPr sz="3748"/>
            </a:lvl1pPr>
            <a:lvl2pPr marL="1070991" indent="0">
              <a:buNone/>
              <a:defRPr sz="3280"/>
            </a:lvl2pPr>
            <a:lvl3pPr marL="2141982" indent="0">
              <a:buNone/>
              <a:defRPr sz="2811"/>
            </a:lvl3pPr>
            <a:lvl4pPr marL="3212973" indent="0">
              <a:buNone/>
              <a:defRPr sz="2343"/>
            </a:lvl4pPr>
            <a:lvl5pPr marL="4283964" indent="0">
              <a:buNone/>
              <a:defRPr sz="2343"/>
            </a:lvl5pPr>
            <a:lvl6pPr marL="5354955" indent="0">
              <a:buNone/>
              <a:defRPr sz="2343"/>
            </a:lvl6pPr>
            <a:lvl7pPr marL="6425946" indent="0">
              <a:buNone/>
              <a:defRPr sz="2343"/>
            </a:lvl7pPr>
            <a:lvl8pPr marL="7496937" indent="0">
              <a:buNone/>
              <a:defRPr sz="2343"/>
            </a:lvl8pPr>
            <a:lvl9pPr marL="8567928" indent="0">
              <a:buNone/>
              <a:defRPr sz="234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02424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436848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28788" y="1611875"/>
            <a:ext cx="4618717" cy="256568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2636" y="1611875"/>
            <a:ext cx="13588400" cy="256568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819058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2635" y="1611882"/>
            <a:ext cx="18474869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635" y="8059374"/>
            <a:ext cx="18474869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2635" y="28060644"/>
            <a:ext cx="4819531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1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95421" y="28060644"/>
            <a:ext cx="7229297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1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27972" y="28060644"/>
            <a:ext cx="4819531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1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133189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2141982" rtl="0" eaLnBrk="1" latinLnBrk="0" hangingPunct="1">
        <a:lnSpc>
          <a:spcPct val="90000"/>
        </a:lnSpc>
        <a:spcBef>
          <a:spcPct val="0"/>
        </a:spcBef>
        <a:buNone/>
        <a:defRPr sz="1030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5496" indent="-535496" algn="l" defTabSz="2141982" rtl="0" eaLnBrk="1" latinLnBrk="0" hangingPunct="1">
        <a:lnSpc>
          <a:spcPct val="90000"/>
        </a:lnSpc>
        <a:spcBef>
          <a:spcPts val="2343"/>
        </a:spcBef>
        <a:buFont typeface="Arial" panose="020B0604020202020204" pitchFamily="34" charset="0"/>
        <a:buChar char="•"/>
        <a:defRPr sz="6559" kern="1200">
          <a:solidFill>
            <a:schemeClr val="tx1"/>
          </a:solidFill>
          <a:latin typeface="+mn-lt"/>
          <a:ea typeface="+mn-ea"/>
          <a:cs typeface="+mn-cs"/>
        </a:defRPr>
      </a:lvl1pPr>
      <a:lvl2pPr marL="1606487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5622" kern="1200">
          <a:solidFill>
            <a:schemeClr val="tx1"/>
          </a:solidFill>
          <a:latin typeface="+mn-lt"/>
          <a:ea typeface="+mn-ea"/>
          <a:cs typeface="+mn-cs"/>
        </a:defRPr>
      </a:lvl2pPr>
      <a:lvl3pPr marL="2677478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685" kern="1200">
          <a:solidFill>
            <a:schemeClr val="tx1"/>
          </a:solidFill>
          <a:latin typeface="+mn-lt"/>
          <a:ea typeface="+mn-ea"/>
          <a:cs typeface="+mn-cs"/>
        </a:defRPr>
      </a:lvl3pPr>
      <a:lvl4pPr marL="3748469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4pPr>
      <a:lvl5pPr marL="4819460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5pPr>
      <a:lvl6pPr marL="5890451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6pPr>
      <a:lvl7pPr marL="6961442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7pPr>
      <a:lvl8pPr marL="8032433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8pPr>
      <a:lvl9pPr marL="9103424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1pPr>
      <a:lvl2pPr marL="1070991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2pPr>
      <a:lvl3pPr marL="2141982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3pPr>
      <a:lvl4pPr marL="3212973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4pPr>
      <a:lvl5pPr marL="4283964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5pPr>
      <a:lvl6pPr marL="5354955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6pPr>
      <a:lvl7pPr marL="6425946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7pPr>
      <a:lvl8pPr marL="7496937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8pPr>
      <a:lvl9pPr marL="8567928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jpe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1027">
            <a:extLst>
              <a:ext uri="{FF2B5EF4-FFF2-40B4-BE49-F238E27FC236}">
                <a16:creationId xmlns:a16="http://schemas.microsoft.com/office/drawing/2014/main" id="{730FCA34-DC1C-7B2E-3263-D5908DF662D8}"/>
              </a:ext>
            </a:extLst>
          </p:cNvPr>
          <p:cNvSpPr/>
          <p:nvPr/>
        </p:nvSpPr>
        <p:spPr>
          <a:xfrm>
            <a:off x="0" y="29301411"/>
            <a:ext cx="21695418" cy="973802"/>
          </a:xfrm>
          <a:prstGeom prst="rect">
            <a:avLst/>
          </a:prstGeom>
          <a:solidFill>
            <a:srgbClr val="355F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2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0E4648-CCC5-E983-26A1-0663794D4DFB}"/>
              </a:ext>
            </a:extLst>
          </p:cNvPr>
          <p:cNvSpPr/>
          <p:nvPr/>
        </p:nvSpPr>
        <p:spPr>
          <a:xfrm>
            <a:off x="0" y="0"/>
            <a:ext cx="21420140" cy="2908117"/>
          </a:xfrm>
          <a:prstGeom prst="rect">
            <a:avLst/>
          </a:prstGeom>
          <a:solidFill>
            <a:srgbClr val="3660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0EDB25-8610-C8B4-5905-0D2DA4759622}"/>
              </a:ext>
            </a:extLst>
          </p:cNvPr>
          <p:cNvSpPr txBox="1"/>
          <p:nvPr/>
        </p:nvSpPr>
        <p:spPr>
          <a:xfrm>
            <a:off x="1473855" y="130801"/>
            <a:ext cx="184380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  <a:latin typeface="+mj-lt"/>
                <a:cs typeface="Calibri" panose="020F0502020204030204" pitchFamily="34" charset="0"/>
              </a:rPr>
              <a:t>Machine Learning Assisted Real-Time Plasma Diagnosis: </a:t>
            </a:r>
          </a:p>
          <a:p>
            <a:pPr algn="ctr"/>
            <a:r>
              <a:rPr lang="en-US" sz="4400" b="1" dirty="0">
                <a:solidFill>
                  <a:schemeClr val="bg1"/>
                </a:solidFill>
                <a:latin typeface="+mj-lt"/>
                <a:cs typeface="Calibri" panose="020F0502020204030204" pitchFamily="34" charset="0"/>
              </a:rPr>
              <a:t>Domain-Knowledge-Driven Feature Engineering Enable H</a:t>
            </a:r>
            <a:r>
              <a:rPr lang="en-US" sz="4400" b="1" baseline="-25000" dirty="0">
                <a:solidFill>
                  <a:schemeClr val="bg1"/>
                </a:solidFill>
                <a:latin typeface="+mj-lt"/>
                <a:cs typeface="Calibri" panose="020F0502020204030204" pitchFamily="34" charset="0"/>
              </a:rPr>
              <a:t>2</a:t>
            </a:r>
            <a:r>
              <a:rPr lang="en-US" sz="4400" b="1" dirty="0">
                <a:solidFill>
                  <a:schemeClr val="bg1"/>
                </a:solidFill>
                <a:latin typeface="+mj-lt"/>
                <a:cs typeface="Calibri" panose="020F0502020204030204" pitchFamily="34" charset="0"/>
              </a:rPr>
              <a:t>O</a:t>
            </a:r>
            <a:r>
              <a:rPr lang="en-US" sz="4400" b="1" baseline="-25000" dirty="0">
                <a:solidFill>
                  <a:schemeClr val="bg1"/>
                </a:solidFill>
                <a:latin typeface="+mj-lt"/>
                <a:cs typeface="Calibri" panose="020F0502020204030204" pitchFamily="34" charset="0"/>
              </a:rPr>
              <a:t>2 </a:t>
            </a:r>
            <a:r>
              <a:rPr lang="en-US" sz="4400" b="1" dirty="0">
                <a:solidFill>
                  <a:schemeClr val="bg1"/>
                </a:solidFill>
                <a:latin typeface="+mj-lt"/>
                <a:cs typeface="Calibri" panose="020F0502020204030204" pitchFamily="34" charset="0"/>
              </a:rPr>
              <a:t>Yield Prediction</a:t>
            </a:r>
            <a:endParaRPr lang="en-CN" sz="4000" b="1" dirty="0">
              <a:solidFill>
                <a:schemeClr val="bg1"/>
              </a:solidFill>
              <a:latin typeface="+mj-lt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AF1040-1642-AD80-FA87-F4F86A8F15DF}"/>
              </a:ext>
            </a:extLst>
          </p:cNvPr>
          <p:cNvSpPr txBox="1"/>
          <p:nvPr/>
        </p:nvSpPr>
        <p:spPr>
          <a:xfrm>
            <a:off x="7178468" y="1689709"/>
            <a:ext cx="70288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sz="28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Supervisor: Xin Tu	Assessor: Xue Yong</a:t>
            </a:r>
          </a:p>
          <a:p>
            <a:pPr algn="ctr"/>
            <a:r>
              <a:rPr lang="en-CN" sz="28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Mingjie Zhu  (201850714)	</a:t>
            </a:r>
          </a:p>
        </p:txBody>
      </p:sp>
      <p:pic>
        <p:nvPicPr>
          <p:cNvPr id="33" name="图片 72">
            <a:extLst>
              <a:ext uri="{FF2B5EF4-FFF2-40B4-BE49-F238E27FC236}">
                <a16:creationId xmlns:a16="http://schemas.microsoft.com/office/drawing/2014/main" id="{CE82D9B4-FF87-FD54-BE3E-B9AA1108C868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357901" y="1403948"/>
            <a:ext cx="4200416" cy="1446550"/>
          </a:xfrm>
          <a:prstGeom prst="rect">
            <a:avLst/>
          </a:prstGeom>
        </p:spPr>
      </p:pic>
      <p:grpSp>
        <p:nvGrpSpPr>
          <p:cNvPr id="48" name="Group 47">
            <a:extLst>
              <a:ext uri="{FF2B5EF4-FFF2-40B4-BE49-F238E27FC236}">
                <a16:creationId xmlns:a16="http://schemas.microsoft.com/office/drawing/2014/main" id="{88C311E7-0C99-82C3-A0DE-4E491B7D2ACA}"/>
              </a:ext>
            </a:extLst>
          </p:cNvPr>
          <p:cNvGrpSpPr/>
          <p:nvPr/>
        </p:nvGrpSpPr>
        <p:grpSpPr>
          <a:xfrm>
            <a:off x="7348061" y="18526054"/>
            <a:ext cx="6724016" cy="10527597"/>
            <a:chOff x="440418" y="5694830"/>
            <a:chExt cx="9183262" cy="10527597"/>
          </a:xfrm>
        </p:grpSpPr>
        <p:sp>
          <p:nvSpPr>
            <p:cNvPr id="49" name="Text Box 189">
              <a:extLst>
                <a:ext uri="{FF2B5EF4-FFF2-40B4-BE49-F238E27FC236}">
                  <a16:creationId xmlns:a16="http://schemas.microsoft.com/office/drawing/2014/main" id="{BE3C8062-1114-E101-75D6-0ADD85BA52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0418" y="6668631"/>
              <a:ext cx="9183262" cy="955379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>
                  <a:lumMod val="75000"/>
                </a:schemeClr>
              </a:solidFill>
            </a:ln>
            <a:effectLst/>
          </p:spPr>
          <p:txBody>
            <a:bodyPr wrap="square" lIns="173940" tIns="173940" rIns="173940" bIns="173940">
              <a:spAutoFit/>
            </a:bodyPr>
            <a:lstStyle>
              <a:lvl1pPr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Principle component analysis on 701 OES frequencies requires 11 components to reach 95% cumulative variance, and first 5 PCs capture ~74% of variance. </a:t>
              </a: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endParaRPr lang="en-US" sz="2400" dirty="0">
                <a:solidFill>
                  <a:prstClr val="black"/>
                </a:solidFill>
                <a:latin typeface="+mn-lt"/>
              </a:endParaRP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b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</a:b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However, in phase 1, discharge parameter-only configurations dominate for most models, and OES-only inputs performs poorly.</a:t>
              </a: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2400" dirty="0">
                  <a:solidFill>
                    <a:prstClr val="black"/>
                  </a:solidFill>
                  <a:latin typeface="+mn-lt"/>
                </a:rPr>
                <a:t>After tuning parameters in phase 2, R</a:t>
              </a:r>
              <a:r>
                <a:rPr lang="en-US" sz="2400" baseline="30000" dirty="0">
                  <a:solidFill>
                    <a:prstClr val="black"/>
                  </a:solidFill>
                  <a:latin typeface="+mn-lt"/>
                </a:rPr>
                <a:t>2 </a:t>
              </a:r>
              <a:r>
                <a:rPr lang="en-US" sz="2400" dirty="0">
                  <a:solidFill>
                    <a:prstClr val="black"/>
                  </a:solidFill>
                  <a:latin typeface="+mn-lt"/>
                </a:rPr>
                <a:t>for all models are improved universally. MLP shows the most significant recovery from -1.13 to 0.33 for Config C and reaches 0.86 for Config B. CNN with config C remains the best OES-utilizing model.</a:t>
              </a:r>
            </a:p>
            <a:p>
              <a:pPr lvl="0" eaLnBrk="1" hangingPunct="1">
                <a:spcAft>
                  <a:spcPts val="1200"/>
                </a:spcAft>
                <a:defRPr/>
              </a:pPr>
              <a:r>
                <a:rPr lang="en-US" sz="2400" dirty="0">
                  <a:solidFill>
                    <a:prstClr val="black"/>
                  </a:solidFill>
                  <a:latin typeface="+mn-lt"/>
                </a:rPr>
                <a:t>The most </a:t>
              </a:r>
              <a:r>
                <a:rPr lang="en-US" sz="2400" dirty="0"/>
                <a:t>pivotal</a:t>
              </a:r>
              <a:r>
                <a:rPr lang="en-US" sz="2400" dirty="0">
                  <a:solidFill>
                    <a:prstClr val="black"/>
                  </a:solidFill>
                  <a:latin typeface="+mn-lt"/>
                </a:rPr>
                <a:t> breakthrough is in phase 3. Feature engineering dramatically improved Config C for MLP model from 0.33 to 0.80 and Ridge model from -0.17 to 0.80.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FD5B111A-B4E9-6D13-00F1-85495135907E}"/>
                </a:ext>
              </a:extLst>
            </p:cNvPr>
            <p:cNvSpPr/>
            <p:nvPr/>
          </p:nvSpPr>
          <p:spPr>
            <a:xfrm>
              <a:off x="440418" y="5694830"/>
              <a:ext cx="9183262" cy="973802"/>
            </a:xfrm>
            <a:prstGeom prst="rect">
              <a:avLst/>
            </a:prstGeom>
            <a:solidFill>
              <a:srgbClr val="355F9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6970" tIns="43485" rIns="86970" bIns="43485" rtlCol="0" anchor="ctr"/>
            <a:lstStyle/>
            <a:p>
              <a:pPr algn="ctr"/>
              <a:r>
                <a:rPr lang="en-US" sz="5400" b="1" dirty="0">
                  <a:solidFill>
                    <a:schemeClr val="bg1"/>
                  </a:solidFill>
                </a:rPr>
                <a:t>Results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9355F9A-B3D3-A17F-1418-060C39543E24}"/>
              </a:ext>
            </a:extLst>
          </p:cNvPr>
          <p:cNvGrpSpPr/>
          <p:nvPr/>
        </p:nvGrpSpPr>
        <p:grpSpPr>
          <a:xfrm>
            <a:off x="229885" y="3091330"/>
            <a:ext cx="6748634" cy="14928802"/>
            <a:chOff x="440418" y="5694830"/>
            <a:chExt cx="9183262" cy="14928802"/>
          </a:xfrm>
        </p:grpSpPr>
        <p:sp>
          <p:nvSpPr>
            <p:cNvPr id="52" name="Text Box 189">
              <a:extLst>
                <a:ext uri="{FF2B5EF4-FFF2-40B4-BE49-F238E27FC236}">
                  <a16:creationId xmlns:a16="http://schemas.microsoft.com/office/drawing/2014/main" id="{11367713-F6E8-F588-F90C-BE8C07A708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0418" y="6668631"/>
              <a:ext cx="9183262" cy="1395500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>
                  <a:lumMod val="75000"/>
                </a:schemeClr>
              </a:solidFill>
            </a:ln>
            <a:effectLst/>
          </p:spPr>
          <p:txBody>
            <a:bodyPr wrap="square" lIns="173940" tIns="173940" rIns="173940" bIns="173940">
              <a:spAutoFit/>
            </a:bodyPr>
            <a:lstStyle>
              <a:lvl1pPr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2400" dirty="0">
                  <a:latin typeface="+mn-lt"/>
                </a:rPr>
                <a:t>Nanosecond pulsed CO2 bubble discharge demonstrates novel pathway that utilizes plasma technology  to convert CO2 into useful chemical products, such as H2 and H2O2[1]. </a:t>
              </a: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>
                <a:spcAft>
                  <a:spcPts val="1200"/>
                </a:spcAft>
              </a:pPr>
              <a:r>
                <a:rPr lang="en-US" sz="2400" dirty="0">
                  <a:latin typeface="+mn-lt"/>
                </a:rPr>
                <a:t>Optical Emission Spectroscopy (OES) is a cost-effective instrument that enables non-intrusive, real-time measurement into the status of plasma. </a:t>
              </a:r>
            </a:p>
            <a:p>
              <a:pPr eaLnBrk="1" hangingPunct="1">
                <a:spcAft>
                  <a:spcPts val="1200"/>
                </a:spcAft>
              </a:pPr>
              <a:r>
                <a:rPr lang="en-US" sz="2400" dirty="0">
                  <a:latin typeface="+mn-lt"/>
                </a:rPr>
                <a:t>In this research, </a:t>
              </a:r>
              <a:r>
                <a:rPr lang="en-US" sz="2400" b="1" dirty="0">
                  <a:latin typeface="+mn-lt"/>
                </a:rPr>
                <a:t>OES spectrum, combined with reaction discharge parameters</a:t>
              </a:r>
              <a:r>
                <a:rPr lang="en-US" sz="2400" dirty="0">
                  <a:latin typeface="+mn-lt"/>
                </a:rPr>
                <a:t>, are engineered to build informative features that allow Machine Learning models (i.e. linear regression, artificial neural network) to recognize and </a:t>
              </a:r>
              <a:r>
                <a:rPr lang="en-US" sz="2400" b="1" dirty="0">
                  <a:latin typeface="+mn-lt"/>
                </a:rPr>
                <a:t>predict H2O2 yield</a:t>
              </a:r>
              <a:r>
                <a:rPr lang="en-US" sz="2400" dirty="0">
                  <a:latin typeface="+mn-lt"/>
                </a:rPr>
                <a:t>. Data used in this research is collected from Gao et al.[1]</a:t>
              </a: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br>
                <a:rPr lang="en-US" sz="2400" dirty="0">
                  <a:latin typeface="+mn-lt"/>
                </a:rPr>
              </a:br>
              <a:br>
                <a:rPr lang="en-US" sz="2400" dirty="0">
                  <a:latin typeface="+mn-lt"/>
                </a:rPr>
              </a:br>
              <a:endParaRPr lang="en-US" sz="2400" dirty="0">
                <a:latin typeface="+mn-lt"/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9AF8757-41ED-FFFA-5384-C33B63700FE3}"/>
                </a:ext>
              </a:extLst>
            </p:cNvPr>
            <p:cNvSpPr/>
            <p:nvPr/>
          </p:nvSpPr>
          <p:spPr>
            <a:xfrm>
              <a:off x="440418" y="5694830"/>
              <a:ext cx="9183262" cy="973802"/>
            </a:xfrm>
            <a:prstGeom prst="rect">
              <a:avLst/>
            </a:prstGeom>
            <a:solidFill>
              <a:srgbClr val="355F9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6970" tIns="43485" rIns="86970" bIns="43485" rtlCol="0" anchor="ctr"/>
            <a:lstStyle/>
            <a:p>
              <a:pPr algn="ctr">
                <a:tabLst>
                  <a:tab pos="5146675" algn="l"/>
                </a:tabLst>
              </a:pPr>
              <a:r>
                <a:rPr lang="en-US" sz="5400" b="1" dirty="0">
                  <a:solidFill>
                    <a:schemeClr val="bg1"/>
                  </a:solidFill>
                </a:rPr>
                <a:t>Introduction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E64BEBB4-2B07-8A00-0D3E-4D50D99D61F4}"/>
              </a:ext>
            </a:extLst>
          </p:cNvPr>
          <p:cNvGrpSpPr/>
          <p:nvPr/>
        </p:nvGrpSpPr>
        <p:grpSpPr>
          <a:xfrm>
            <a:off x="14392421" y="20503684"/>
            <a:ext cx="6748634" cy="8280829"/>
            <a:chOff x="440418" y="5694830"/>
            <a:chExt cx="9183262" cy="8280829"/>
          </a:xfrm>
        </p:grpSpPr>
        <p:sp>
          <p:nvSpPr>
            <p:cNvPr id="58" name="Text Box 189">
              <a:extLst>
                <a:ext uri="{FF2B5EF4-FFF2-40B4-BE49-F238E27FC236}">
                  <a16:creationId xmlns:a16="http://schemas.microsoft.com/office/drawing/2014/main" id="{31DB89BC-58E0-5E44-5C43-8A52438397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0418" y="6668631"/>
              <a:ext cx="9183262" cy="730702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>
                  <a:lumMod val="75000"/>
                </a:schemeClr>
              </a:solidFill>
            </a:ln>
            <a:effectLst/>
          </p:spPr>
          <p:txBody>
            <a:bodyPr wrap="square" lIns="173940" tIns="173940" rIns="173940" bIns="173940">
              <a:spAutoFit/>
            </a:bodyPr>
            <a:lstStyle>
              <a:lvl1pPr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Aft>
                  <a:spcPts val="1200"/>
                </a:spcAft>
                <a:defRPr/>
              </a:pPr>
              <a:r>
                <a:rPr lang="en-US" sz="2400" dirty="0">
                  <a:solidFill>
                    <a:prstClr val="black"/>
                  </a:solidFill>
                  <a:latin typeface="+mn-lt"/>
                </a:rPr>
                <a:t>This study demonstrates that domain-knowledge-driven feature engineering is the decisive factor in enabling accurate machine learning prediction of H₂O₂ yield from nanosecond pulsed CO₂ bubble plasma.</a:t>
              </a:r>
            </a:p>
            <a:p>
              <a:pPr eaLnBrk="1" hangingPunct="1">
                <a:spcAft>
                  <a:spcPts val="1200"/>
                </a:spcAft>
                <a:defRPr/>
              </a:pPr>
              <a:r>
                <a:rPr lang="en-US" sz="2400" dirty="0">
                  <a:solidFill>
                    <a:prstClr val="black"/>
                  </a:solidFill>
                  <a:latin typeface="+mn-lt"/>
                </a:rPr>
                <a:t>Replacing PCA with physically meaningful OES features dramatically improved model performance (Ridge Config C R² from −0.17 to 0.80). </a:t>
              </a:r>
            </a:p>
            <a:p>
              <a:pPr eaLnBrk="1" hangingPunct="1">
                <a:spcAft>
                  <a:spcPts val="1200"/>
                </a:spcAft>
                <a:defRPr/>
              </a:pPr>
              <a:r>
                <a:rPr lang="en-US" sz="2400" dirty="0">
                  <a:solidFill>
                    <a:prstClr val="black"/>
                  </a:solidFill>
                  <a:latin typeface="+mn-lt"/>
                </a:rPr>
                <a:t>Interpretability analysis identified CO₂ flow rate and its OES band integral as the most influential predictors. Permutation testing confirmed genuine predictive power (p &lt; 0.00005), and a parsimonious Ridge model with just 3 OES ratios and discharge parameters matched complex neural networks</a:t>
              </a:r>
              <a:r>
                <a:rPr lang="en-US" altLang="zh-CN" sz="2400" dirty="0">
                  <a:solidFill>
                    <a:prstClr val="black"/>
                  </a:solidFill>
                  <a:latin typeface="+mn-lt"/>
                </a:rPr>
                <a:t>,</a:t>
              </a:r>
              <a:r>
                <a:rPr lang="zh-CN" altLang="en-US" sz="2400" dirty="0">
                  <a:solidFill>
                    <a:prstClr val="black"/>
                  </a:solidFill>
                  <a:latin typeface="+mn-lt"/>
                </a:rPr>
                <a:t> </a:t>
              </a:r>
              <a:r>
                <a:rPr lang="en-US" sz="2400" dirty="0">
                  <a:solidFill>
                    <a:prstClr val="black"/>
                  </a:solidFill>
                  <a:latin typeface="+mn-lt"/>
                </a:rPr>
                <a:t> demonstrating that interpretable linear models suffice when features are well-engineered</a:t>
              </a:r>
              <a:r>
                <a:rPr lang="en-US" sz="2400" dirty="0"/>
                <a:t>.</a:t>
              </a:r>
              <a:endParaRPr lang="en-US" sz="2400" dirty="0">
                <a:solidFill>
                  <a:prstClr val="black"/>
                </a:solidFill>
                <a:latin typeface="+mn-lt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B3D28B58-D871-A128-44C7-E9F0E35DAAEB}"/>
                </a:ext>
              </a:extLst>
            </p:cNvPr>
            <p:cNvSpPr/>
            <p:nvPr/>
          </p:nvSpPr>
          <p:spPr>
            <a:xfrm>
              <a:off x="440418" y="5694830"/>
              <a:ext cx="9183262" cy="973802"/>
            </a:xfrm>
            <a:prstGeom prst="rect">
              <a:avLst/>
            </a:prstGeom>
            <a:solidFill>
              <a:srgbClr val="355F9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6970" tIns="43485" rIns="86970" bIns="43485" rtlCol="0" anchor="ctr"/>
            <a:lstStyle/>
            <a:p>
              <a:pPr algn="ctr"/>
              <a:r>
                <a:rPr lang="en-US" sz="5400" b="1" dirty="0">
                  <a:solidFill>
                    <a:schemeClr val="bg1"/>
                  </a:solidFill>
                </a:rPr>
                <a:t>Conclusion</a:t>
              </a:r>
            </a:p>
          </p:txBody>
        </p:sp>
      </p:grpSp>
      <p:pic>
        <p:nvPicPr>
          <p:cNvPr id="1029" name="Picture 5" descr="Schematic diagram of experimental setup.">
            <a:extLst>
              <a:ext uri="{FF2B5EF4-FFF2-40B4-BE49-F238E27FC236}">
                <a16:creationId xmlns:a16="http://schemas.microsoft.com/office/drawing/2014/main" id="{FCA622DA-7B21-8627-4272-39CB7D6265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2065" y="5725782"/>
            <a:ext cx="4187216" cy="33596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2996D8F0-137B-63DD-86A7-74B0537DAB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647" y="13913567"/>
            <a:ext cx="4777310" cy="3582982"/>
          </a:xfrm>
          <a:prstGeom prst="rect">
            <a:avLst/>
          </a:prstGeom>
        </p:spPr>
      </p:pic>
      <p:grpSp>
        <p:nvGrpSpPr>
          <p:cNvPr id="61" name="Group 60">
            <a:extLst>
              <a:ext uri="{FF2B5EF4-FFF2-40B4-BE49-F238E27FC236}">
                <a16:creationId xmlns:a16="http://schemas.microsoft.com/office/drawing/2014/main" id="{CE60D2E9-18EC-7A44-614B-498DB790D767}"/>
              </a:ext>
            </a:extLst>
          </p:cNvPr>
          <p:cNvGrpSpPr/>
          <p:nvPr/>
        </p:nvGrpSpPr>
        <p:grpSpPr>
          <a:xfrm>
            <a:off x="229885" y="18199581"/>
            <a:ext cx="6748634" cy="10881541"/>
            <a:chOff x="440418" y="5694830"/>
            <a:chExt cx="9183262" cy="10881541"/>
          </a:xfrm>
        </p:grpSpPr>
        <p:sp>
          <p:nvSpPr>
            <p:cNvPr id="62" name="Text Box 189">
              <a:extLst>
                <a:ext uri="{FF2B5EF4-FFF2-40B4-BE49-F238E27FC236}">
                  <a16:creationId xmlns:a16="http://schemas.microsoft.com/office/drawing/2014/main" id="{E7D69C59-0935-BBC8-C3FC-5D2657984F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0418" y="6668631"/>
              <a:ext cx="9183262" cy="990774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>
                  <a:lumMod val="75000"/>
                </a:schemeClr>
              </a:solidFill>
            </a:ln>
            <a:effectLst/>
          </p:spPr>
          <p:txBody>
            <a:bodyPr wrap="square" lIns="173940" tIns="173940" rIns="173940" bIns="173940">
              <a:spAutoFit/>
            </a:bodyPr>
            <a:lstStyle>
              <a:lvl1pPr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Aft>
                  <a:spcPts val="600"/>
                </a:spcAft>
              </a:pPr>
              <a:r>
                <a:rPr lang="en-US" sz="2400" dirty="0">
                  <a:latin typeface="+mn-lt"/>
                </a:rPr>
                <a:t>The project is conducted in </a:t>
              </a:r>
              <a:r>
                <a:rPr lang="en-US" sz="2400" b="1" dirty="0">
                  <a:latin typeface="+mn-lt"/>
                </a:rPr>
                <a:t>4 iterative phases</a:t>
              </a:r>
              <a:r>
                <a:rPr lang="en-US" sz="2400" dirty="0">
                  <a:latin typeface="+mn-lt"/>
                </a:rPr>
                <a:t>, each building on the previous one to enhance model performance and interpretability.</a:t>
              </a:r>
            </a:p>
            <a:p>
              <a:pPr eaLnBrk="1" hangingPunct="1">
                <a:spcAft>
                  <a:spcPts val="600"/>
                </a:spcAft>
              </a:pPr>
              <a:r>
                <a:rPr lang="en-US" sz="2400" b="1" dirty="0">
                  <a:latin typeface="+mn-lt"/>
                </a:rPr>
                <a:t>Phase 1</a:t>
              </a:r>
              <a:r>
                <a:rPr lang="en-US" sz="2400" dirty="0">
                  <a:latin typeface="+mn-lt"/>
                </a:rPr>
                <a:t>: Baseline modeling with PCA-reduced OES features + discharge parameters.</a:t>
              </a:r>
            </a:p>
            <a:p>
              <a:pPr marL="342900" indent="-342900" eaLnBrk="1" hangingPunct="1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sz="2400" dirty="0">
                  <a:latin typeface="+mn-lt"/>
                </a:rPr>
                <a:t>Principle Component Analysis is a dimensionality reduction technique that utilizes covariance matrix and solves its eigenvector as PCs.</a:t>
              </a:r>
            </a:p>
            <a:p>
              <a:pPr marL="342900" indent="-342900" eaLnBrk="1" hangingPunct="1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endParaRPr lang="en-US" sz="2400" dirty="0">
                <a:latin typeface="+mn-lt"/>
              </a:endParaRPr>
            </a:p>
            <a:p>
              <a:pPr marL="342900" indent="-342900" eaLnBrk="1" hangingPunct="1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sz="2400" dirty="0">
                  <a:latin typeface="+mn-lt"/>
                </a:rPr>
                <a:t>Both linear and non-linear models are tested: Ridge, PLS, SVR, </a:t>
              </a:r>
              <a:r>
                <a:rPr lang="en-US" sz="2400" dirty="0" err="1">
                  <a:latin typeface="+mn-lt"/>
                </a:rPr>
                <a:t>XGBoost</a:t>
              </a:r>
              <a:r>
                <a:rPr lang="en-US" sz="2400" dirty="0">
                  <a:latin typeface="+mn-lt"/>
                </a:rPr>
                <a:t>, RF, MLP, CNN.</a:t>
              </a:r>
            </a:p>
            <a:p>
              <a:pPr marL="342900" indent="-342900" eaLnBrk="1" hangingPunct="1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sz="2400" dirty="0">
                  <a:latin typeface="+mn-lt"/>
                </a:rPr>
                <a:t>Three configs of features/parameters are used as input data for models. </a:t>
              </a:r>
              <a:br>
                <a:rPr lang="en-US" sz="2400" dirty="0">
                  <a:latin typeface="+mn-lt"/>
                </a:rPr>
              </a:br>
              <a:endParaRPr lang="en-US" sz="2400" dirty="0">
                <a:latin typeface="+mn-lt"/>
              </a:endParaRPr>
            </a:p>
            <a:p>
              <a:pPr marL="342900" indent="-342900" eaLnBrk="1" hangingPunct="1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endParaRPr lang="en-US" sz="2400" dirty="0">
                <a:latin typeface="+mn-lt"/>
              </a:endParaRPr>
            </a:p>
            <a:p>
              <a:pPr eaLnBrk="1" hangingPunct="1">
                <a:spcAft>
                  <a:spcPts val="600"/>
                </a:spcAft>
              </a:pPr>
              <a:endParaRPr lang="en-US" sz="2400" dirty="0">
                <a:latin typeface="+mn-lt"/>
              </a:endParaRPr>
            </a:p>
            <a:p>
              <a:pPr eaLnBrk="1" hangingPunct="1">
                <a:spcAft>
                  <a:spcPts val="600"/>
                </a:spcAft>
              </a:pPr>
              <a:r>
                <a:rPr lang="en-US" sz="2400" b="1" dirty="0">
                  <a:latin typeface="+mn-lt"/>
                </a:rPr>
                <a:t>Phase 2</a:t>
              </a:r>
              <a:r>
                <a:rPr lang="en-US" sz="2400" dirty="0">
                  <a:latin typeface="+mn-lt"/>
                </a:rPr>
                <a:t>: Hyperparameter tuning of nonlinear models (RF, MLP, CNN) using Bayesian optimization.</a:t>
              </a:r>
            </a:p>
            <a:p>
              <a:pPr marL="342900" indent="-342900" eaLnBrk="1" hangingPunct="1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sz="2400" dirty="0" err="1">
                  <a:latin typeface="+mn-lt"/>
                </a:rPr>
                <a:t>Optuna</a:t>
              </a:r>
              <a:r>
                <a:rPr lang="en-US" sz="2400" dirty="0">
                  <a:latin typeface="+mn-lt"/>
                </a:rPr>
                <a:t> is a framework for hyperparameter tuning. It use Tree-structured </a:t>
              </a:r>
              <a:r>
                <a:rPr lang="en-US" sz="2400" dirty="0" err="1">
                  <a:latin typeface="+mn-lt"/>
                </a:rPr>
                <a:t>Parzen</a:t>
              </a:r>
              <a:r>
                <a:rPr lang="en-US" sz="2400" dirty="0">
                  <a:latin typeface="+mn-lt"/>
                </a:rPr>
                <a:t> Estimator to optimize hyperparameter for each model.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384DA1A1-38BF-844A-D549-D04E388006A4}"/>
                </a:ext>
              </a:extLst>
            </p:cNvPr>
            <p:cNvSpPr/>
            <p:nvPr/>
          </p:nvSpPr>
          <p:spPr>
            <a:xfrm>
              <a:off x="440418" y="5694830"/>
              <a:ext cx="9183262" cy="973802"/>
            </a:xfrm>
            <a:prstGeom prst="rect">
              <a:avLst/>
            </a:prstGeom>
            <a:solidFill>
              <a:srgbClr val="355F9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6970" tIns="43485" rIns="86970" bIns="43485" rtlCol="0" anchor="ctr"/>
            <a:lstStyle/>
            <a:p>
              <a:pPr algn="ctr"/>
              <a:r>
                <a:rPr lang="en-US" sz="5400" b="1" dirty="0">
                  <a:solidFill>
                    <a:schemeClr val="bg1"/>
                  </a:solidFill>
                </a:rPr>
                <a:t>Methodology</a:t>
              </a:r>
            </a:p>
          </p:txBody>
        </p:sp>
      </p:grpSp>
      <p:pic>
        <p:nvPicPr>
          <p:cNvPr id="1026" name="Picture 1025">
            <a:extLst>
              <a:ext uri="{FF2B5EF4-FFF2-40B4-BE49-F238E27FC236}">
                <a16:creationId xmlns:a16="http://schemas.microsoft.com/office/drawing/2014/main" id="{F60A19EB-6313-5386-3248-D7D54E3A51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0808" y="24811003"/>
            <a:ext cx="4609730" cy="1204520"/>
          </a:xfrm>
          <a:prstGeom prst="rect">
            <a:avLst/>
          </a:prstGeom>
        </p:spPr>
      </p:pic>
      <p:sp>
        <p:nvSpPr>
          <p:cNvPr id="1031" name="Text Box 189">
            <a:extLst>
              <a:ext uri="{FF2B5EF4-FFF2-40B4-BE49-F238E27FC236}">
                <a16:creationId xmlns:a16="http://schemas.microsoft.com/office/drawing/2014/main" id="{A3F1484F-2201-0648-A414-29FF4773B7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48061" y="3091330"/>
            <a:ext cx="6724016" cy="15278441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wrap="square"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RF, MLP and CNN are tuned with over 100 trails per model-config pair.</a:t>
            </a:r>
            <a:endParaRPr lang="en-US" sz="2400" b="1" dirty="0">
              <a:latin typeface="+mn-lt"/>
            </a:endParaRPr>
          </a:p>
          <a:p>
            <a:pPr marL="0" marR="0" lvl="0" indent="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sz="2400" b="1" dirty="0">
                <a:latin typeface="+mn-lt"/>
              </a:rPr>
              <a:t>Phase 3: </a:t>
            </a:r>
            <a:r>
              <a:rPr lang="en-US" sz="2400" dirty="0">
                <a:latin typeface="+mn-lt"/>
              </a:rPr>
              <a:t>Manually construction input features based on plasma chemistry domain-knowledge.</a:t>
            </a:r>
          </a:p>
          <a:p>
            <a:pPr marL="342900" marR="0" lvl="0" indent="-3429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CN" sz="2400" dirty="0">
                <a:latin typeface="+mn-lt"/>
              </a:rPr>
              <a:t>Construct</a:t>
            </a:r>
            <a:r>
              <a:rPr lang="en-US" sz="2400" dirty="0">
                <a:latin typeface="+mn-lt"/>
              </a:rPr>
              <a:t> physically meaningful features based on </a:t>
            </a:r>
            <a:r>
              <a:rPr lang="en-US" sz="2400" dirty="0" err="1">
                <a:latin typeface="+mn-lt"/>
              </a:rPr>
              <a:t>plamsa</a:t>
            </a:r>
            <a:r>
              <a:rPr lang="en-US" sz="2400" dirty="0">
                <a:latin typeface="+mn-lt"/>
              </a:rPr>
              <a:t> chemistry domain knowledge, </a:t>
            </a:r>
            <a:r>
              <a:rPr lang="en-US" altLang="zh-CN" sz="2400" dirty="0">
                <a:latin typeface="+mn-lt"/>
              </a:rPr>
              <a:t>instead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altLang="zh-CN" sz="2400" dirty="0">
                <a:latin typeface="+mn-lt"/>
              </a:rPr>
              <a:t>of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sz="2400" dirty="0">
                <a:latin typeface="+mn-lt"/>
              </a:rPr>
              <a:t>PCA-selected OES components</a:t>
            </a:r>
            <a:r>
              <a:rPr lang="en-US" altLang="zh-CN" sz="2400" dirty="0">
                <a:latin typeface="+mn-lt"/>
              </a:rPr>
              <a:t>. </a:t>
            </a:r>
          </a:p>
          <a:p>
            <a:pPr marL="342900" marR="0" lvl="0" indent="-3429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CN" sz="2400" dirty="0">
                <a:latin typeface="+mn-lt"/>
              </a:rPr>
              <a:t>U</a:t>
            </a:r>
            <a:r>
              <a:rPr lang="en-US" sz="2400" dirty="0">
                <a:latin typeface="+mn-lt"/>
              </a:rPr>
              <a:t>pdate three </a:t>
            </a:r>
            <a:r>
              <a:rPr lang="en-US" altLang="zh-CN" sz="2400" dirty="0">
                <a:latin typeface="+mn-lt"/>
              </a:rPr>
              <a:t>training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altLang="zh-CN" sz="2400" dirty="0">
                <a:latin typeface="+mn-lt"/>
              </a:rPr>
              <a:t>input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sz="2400" dirty="0">
                <a:latin typeface="+mn-lt"/>
              </a:rPr>
              <a:t>configs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altLang="zh-CN" sz="2400" dirty="0">
                <a:latin typeface="+mn-lt"/>
              </a:rPr>
              <a:t>with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altLang="zh-CN" sz="2400" dirty="0">
                <a:latin typeface="+mn-lt"/>
              </a:rPr>
              <a:t>new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altLang="zh-CN" sz="2400" dirty="0">
                <a:latin typeface="+mn-lt"/>
              </a:rPr>
              <a:t>features</a:t>
            </a:r>
            <a:r>
              <a:rPr lang="en-US" sz="2400" dirty="0">
                <a:latin typeface="+mn-lt"/>
              </a:rPr>
              <a:t>.</a:t>
            </a:r>
            <a:br>
              <a:rPr lang="en-US" sz="2400" dirty="0">
                <a:latin typeface="+mn-lt"/>
              </a:rPr>
            </a:br>
            <a:endParaRPr lang="en-US" sz="2400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r>
              <a:rPr lang="en-US" sz="2400" b="1" dirty="0">
                <a:latin typeface="+mn-lt"/>
              </a:rPr>
              <a:t>P</a:t>
            </a:r>
            <a:r>
              <a:rPr lang="en-US" altLang="zh-CN" sz="2400" b="1" dirty="0">
                <a:latin typeface="+mn-lt"/>
              </a:rPr>
              <a:t>hase</a:t>
            </a:r>
            <a:r>
              <a:rPr lang="zh-CN" altLang="en-US" sz="2400" b="1" dirty="0">
                <a:latin typeface="+mn-lt"/>
              </a:rPr>
              <a:t> </a:t>
            </a:r>
            <a:r>
              <a:rPr lang="en-US" altLang="zh-CN" sz="2400" b="1" dirty="0">
                <a:latin typeface="+mn-lt"/>
              </a:rPr>
              <a:t>4:</a:t>
            </a:r>
            <a:r>
              <a:rPr lang="en-US" altLang="zh-CN" sz="2400" dirty="0">
                <a:latin typeface="+mn-lt"/>
              </a:rPr>
              <a:t> </a:t>
            </a:r>
            <a:r>
              <a:rPr lang="en-US" dirty="0">
                <a:latin typeface="+mn-lt"/>
              </a:rPr>
              <a:t>Interpretability analysis and feature reduction via multi-model consensus and backward elimination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</a:rPr>
              <a:t>Evaluate feature importance for each model via different methods.</a:t>
            </a:r>
          </a:p>
          <a:p>
            <a:endParaRPr lang="en-US" dirty="0">
              <a:latin typeface="+mn-lt"/>
            </a:endParaRPr>
          </a:p>
          <a:p>
            <a:pPr eaLnBrk="1" hangingPunct="1"/>
            <a:endParaRPr lang="en-US" sz="2400" dirty="0">
              <a:latin typeface="+mn-lt"/>
            </a:endParaRPr>
          </a:p>
          <a:p>
            <a:pPr eaLnBrk="1" hangingPunct="1"/>
            <a:endParaRPr lang="en-US" sz="2400" dirty="0">
              <a:latin typeface="+mn-lt"/>
            </a:endParaRPr>
          </a:p>
          <a:p>
            <a:pPr eaLnBrk="1" hangingPunct="1"/>
            <a:endParaRPr lang="en-US" sz="2400" dirty="0">
              <a:latin typeface="+mn-lt"/>
            </a:endParaRPr>
          </a:p>
          <a:p>
            <a:pPr eaLnBrk="1" hangingPunct="1"/>
            <a:br>
              <a:rPr lang="en-US" sz="2400" dirty="0">
                <a:latin typeface="+mn-lt"/>
              </a:rPr>
            </a:br>
            <a:endParaRPr lang="en-US" sz="2400" dirty="0">
              <a:latin typeface="+mn-lt"/>
            </a:endParaRPr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</a:rPr>
              <a:t>Statistically evaluate R</a:t>
            </a:r>
            <a:r>
              <a:rPr lang="en-US" sz="2400" baseline="30000" dirty="0">
                <a:latin typeface="+mn-lt"/>
              </a:rPr>
              <a:t>2</a:t>
            </a:r>
            <a:r>
              <a:rPr lang="en-US" sz="2400" dirty="0">
                <a:latin typeface="+mn-lt"/>
              </a:rPr>
              <a:t> confidence interval of  Ridge and PLS using bootstrap resampling.</a:t>
            </a:r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</a:rPr>
              <a:t>Analyze model’s essential learning outcome using permutation test.</a:t>
            </a:r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</a:rPr>
              <a:t>Remove low representative features via eliminating one-by-one (backward elimination) or category-by-category (category ablation), to find the best performed model and config.</a:t>
            </a:r>
          </a:p>
        </p:txBody>
      </p:sp>
      <p:pic>
        <p:nvPicPr>
          <p:cNvPr id="1033" name="Picture 1032">
            <a:extLst>
              <a:ext uri="{FF2B5EF4-FFF2-40B4-BE49-F238E27FC236}">
                <a16:creationId xmlns:a16="http://schemas.microsoft.com/office/drawing/2014/main" id="{034E1230-AC65-D4BF-2133-4BB6ECEC25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9220" y="12624012"/>
            <a:ext cx="5827312" cy="178989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5880BC2-DD9A-5C57-7BB5-24CED8CABEA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91503" y="22713846"/>
            <a:ext cx="4447598" cy="6914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35E7776-D517-3CDD-C5EA-52612786536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9350" y="5669970"/>
            <a:ext cx="6409704" cy="376557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3A94253-8789-26E5-5210-DD83FB638AE8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8304"/>
          <a:stretch>
            <a:fillRect/>
          </a:stretch>
        </p:blipFill>
        <p:spPr>
          <a:xfrm>
            <a:off x="7687173" y="7187901"/>
            <a:ext cx="6321072" cy="33054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5CFB691-92EA-998A-7F75-A9309CAF12B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43475" y="21109900"/>
            <a:ext cx="4498802" cy="2249402"/>
          </a:xfrm>
          <a:prstGeom prst="rect">
            <a:avLst/>
          </a:prstGeom>
        </p:spPr>
      </p:pic>
      <p:sp>
        <p:nvSpPr>
          <p:cNvPr id="8" name="Text Box 189">
            <a:extLst>
              <a:ext uri="{FF2B5EF4-FFF2-40B4-BE49-F238E27FC236}">
                <a16:creationId xmlns:a16="http://schemas.microsoft.com/office/drawing/2014/main" id="{37F55E27-045C-0A8A-3D80-3AD92A7911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392421" y="3093708"/>
            <a:ext cx="6724016" cy="17248211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wrap="square"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Phase 4 discovers that CO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</a:t>
            </a:r>
            <a:r>
              <a:rPr kumimoji="0" lang="en-US" sz="2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flow rate and its OES band integral are two most important factor that affect H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</a:t>
            </a:r>
            <a:r>
              <a:rPr kumimoji="0" lang="en-US" sz="2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 </a:t>
            </a:r>
            <a:r>
              <a:rPr kumimoji="0" lang="en-US" sz="2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yield. Meanwhile, bootstrap confidence interval analysis shows that there </a:t>
            </a:r>
            <a:r>
              <a:rPr lang="en-US" sz="2400" dirty="0">
                <a:solidFill>
                  <a:prstClr val="black"/>
                </a:solidFill>
                <a:latin typeface="+mn-lt"/>
              </a:rPr>
              <a:t>is no statistic difference between </a:t>
            </a:r>
            <a:r>
              <a:rPr kumimoji="0" lang="en-US" sz="2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Ridge config C and MLP config C. </a:t>
            </a: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lvl="0" eaLnBrk="1" hangingPunct="1">
              <a:spcAft>
                <a:spcPts val="1200"/>
              </a:spcAft>
              <a:defRPr/>
            </a:pPr>
            <a:r>
              <a:rPr lang="en-US" sz="2400" dirty="0">
                <a:solidFill>
                  <a:prstClr val="black"/>
                </a:solidFill>
                <a:latin typeface="+mn-lt"/>
              </a:rPr>
              <a:t>Permutation test validates that Ridge model successfully captures mapping relationship from X-&gt;Y with </a:t>
            </a:r>
            <a:r>
              <a:rPr lang="en-US" sz="2400" i="1" dirty="0">
                <a:solidFill>
                  <a:prstClr val="black"/>
                </a:solidFill>
                <a:latin typeface="+mn-lt"/>
              </a:rPr>
              <a:t>p&lt;0.00005.</a:t>
            </a:r>
            <a:r>
              <a:rPr lang="en-US" sz="2400" dirty="0">
                <a:solidFill>
                  <a:prstClr val="black"/>
                </a:solidFill>
                <a:latin typeface="+mn-lt"/>
              </a:rPr>
              <a:t> </a:t>
            </a:r>
          </a:p>
          <a:p>
            <a:pPr lvl="0" eaLnBrk="1" hangingPunct="1">
              <a:spcAft>
                <a:spcPts val="1200"/>
              </a:spcAft>
              <a:defRPr/>
            </a:pPr>
            <a:r>
              <a:rPr lang="en-US" sz="2400" dirty="0">
                <a:solidFill>
                  <a:prstClr val="black"/>
                </a:solidFill>
                <a:latin typeface="+mn-lt"/>
              </a:rPr>
              <a:t>After eliminating features one by one reversely, the best model and input is found to be Ridge with 3 OES ratios + discharge parameter.</a:t>
            </a:r>
            <a:br>
              <a:rPr lang="en-US" sz="2400" dirty="0">
                <a:solidFill>
                  <a:prstClr val="black"/>
                </a:solidFill>
                <a:latin typeface="+mn-lt"/>
              </a:rPr>
            </a:br>
            <a:br>
              <a:rPr lang="en-US" sz="2400" dirty="0">
                <a:solidFill>
                  <a:prstClr val="black"/>
                </a:solidFill>
                <a:latin typeface="+mn-lt"/>
              </a:rPr>
            </a:b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lvl="0" eaLnBrk="1" hangingPunct="1">
              <a:spcAft>
                <a:spcPts val="1200"/>
              </a:spcAft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lvl="0" eaLnBrk="1" hangingPunct="1">
              <a:spcAft>
                <a:spcPts val="1200"/>
              </a:spcAft>
              <a:defRPr/>
            </a:pPr>
            <a:br>
              <a:rPr lang="en-US" sz="2400" dirty="0">
                <a:solidFill>
                  <a:prstClr val="black"/>
                </a:solidFill>
                <a:latin typeface="+mn-lt"/>
              </a:rPr>
            </a:br>
            <a:br>
              <a:rPr lang="en-US" sz="2400" dirty="0">
                <a:solidFill>
                  <a:prstClr val="black"/>
                </a:solidFill>
                <a:latin typeface="+mn-lt"/>
              </a:rPr>
            </a:br>
            <a:br>
              <a:rPr lang="en-US" sz="2400" dirty="0">
                <a:solidFill>
                  <a:prstClr val="black"/>
                </a:solidFill>
                <a:latin typeface="+mn-lt"/>
              </a:rPr>
            </a:br>
            <a:endParaRPr lang="en-US" sz="2400" dirty="0">
              <a:solidFill>
                <a:prstClr val="black"/>
              </a:solidFill>
              <a:latin typeface="+mn-lt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10EE05-73B9-9477-F053-464A932A9DC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079208" y="9977625"/>
            <a:ext cx="5377834" cy="4277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0AF61B-B1F5-5EA9-D336-F730C1D07EA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428926" y="3128406"/>
            <a:ext cx="6651006" cy="22170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139D78-8551-F3C2-D178-D0B301B4C7F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4441619" y="17138685"/>
            <a:ext cx="6651006" cy="267460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9D304C2-12F1-7F9C-EF8D-5BFEDECF916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4503474" y="7911202"/>
            <a:ext cx="6501909" cy="199252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C82D9C5-65D3-9AC4-6203-799480B740C8}"/>
              </a:ext>
            </a:extLst>
          </p:cNvPr>
          <p:cNvSpPr txBox="1"/>
          <p:nvPr/>
        </p:nvSpPr>
        <p:spPr>
          <a:xfrm>
            <a:off x="809819" y="9317279"/>
            <a:ext cx="55317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N" sz="1600" dirty="0"/>
              <a:t>Figure 1: Nanosecond Pulsed CO</a:t>
            </a:r>
            <a:r>
              <a:rPr lang="en-CN" sz="1600" baseline="-25000" dirty="0"/>
              <a:t>2 </a:t>
            </a:r>
            <a:r>
              <a:rPr lang="en-CN" sz="1600" dirty="0"/>
              <a:t>Bubble Discharge Setting</a:t>
            </a:r>
            <a:r>
              <a:rPr lang="en-CN" sz="1600" baseline="30000" dirty="0"/>
              <a:t>[1]</a:t>
            </a:r>
            <a:endParaRPr lang="en-CN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29A5C58-3C04-DE1C-909E-BFFB4C0FA171}"/>
              </a:ext>
            </a:extLst>
          </p:cNvPr>
          <p:cNvSpPr txBox="1"/>
          <p:nvPr/>
        </p:nvSpPr>
        <p:spPr>
          <a:xfrm>
            <a:off x="985963" y="17463911"/>
            <a:ext cx="50586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N" sz="1600" dirty="0"/>
              <a:t>Figure 2: </a:t>
            </a:r>
            <a:r>
              <a:rPr lang="en-US" altLang="zh-CN" sz="1600" dirty="0"/>
              <a:t>20</a:t>
            </a:r>
            <a:r>
              <a:rPr lang="zh-CN" altLang="en-US" sz="1600" dirty="0"/>
              <a:t> </a:t>
            </a:r>
            <a:r>
              <a:rPr lang="en-US" altLang="zh-CN" sz="1600" dirty="0"/>
              <a:t>Optical Emission Spectrum of 701 Samples</a:t>
            </a:r>
            <a:endParaRPr lang="en-CN" sz="1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F31F1A-E19B-902A-3F5F-9EABE38ACD75}"/>
              </a:ext>
            </a:extLst>
          </p:cNvPr>
          <p:cNvSpPr txBox="1"/>
          <p:nvPr/>
        </p:nvSpPr>
        <p:spPr>
          <a:xfrm>
            <a:off x="1348680" y="25870364"/>
            <a:ext cx="45110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N" sz="1600" dirty="0"/>
              <a:t>Table 1: Configuration of Data Input Construction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00C9D4-6149-4D7F-1896-B22C8CEBE77C}"/>
              </a:ext>
            </a:extLst>
          </p:cNvPr>
          <p:cNvSpPr txBox="1"/>
          <p:nvPr/>
        </p:nvSpPr>
        <p:spPr>
          <a:xfrm>
            <a:off x="8755696" y="10447971"/>
            <a:ext cx="39087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N" sz="1600" dirty="0"/>
              <a:t>Table 2: Manually Selected OES Features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A1AFB4C-055F-DCA5-C69E-B157E6DDE4C3}"/>
              </a:ext>
            </a:extLst>
          </p:cNvPr>
          <p:cNvSpPr txBox="1"/>
          <p:nvPr/>
        </p:nvSpPr>
        <p:spPr>
          <a:xfrm>
            <a:off x="8353952" y="14323108"/>
            <a:ext cx="47122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N" sz="1600" dirty="0"/>
              <a:t>Table 3: Methods for Evaluating Feature Importance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F2FCE69-A3B1-5EC0-1E19-8148B3C73CFF}"/>
              </a:ext>
            </a:extLst>
          </p:cNvPr>
          <p:cNvSpPr txBox="1"/>
          <p:nvPr/>
        </p:nvSpPr>
        <p:spPr>
          <a:xfrm>
            <a:off x="8146777" y="23359302"/>
            <a:ext cx="5126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N" sz="1600" dirty="0"/>
              <a:t>Figure 3: Principle Components Analysis Variance Curve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FAE915-8466-3B7C-9898-5969D0D28102}"/>
              </a:ext>
            </a:extLst>
          </p:cNvPr>
          <p:cNvSpPr txBox="1"/>
          <p:nvPr/>
        </p:nvSpPr>
        <p:spPr>
          <a:xfrm>
            <a:off x="15843751" y="5331416"/>
            <a:ext cx="38213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N" sz="1600" dirty="0"/>
              <a:t>Figure 3: R</a:t>
            </a:r>
            <a:r>
              <a:rPr lang="en-CN" sz="1600" baseline="30000" dirty="0"/>
              <a:t>2</a:t>
            </a:r>
            <a:r>
              <a:rPr lang="en-CN" sz="1600" dirty="0"/>
              <a:t> Performance for Each Phase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E82511C-E8C0-CEB6-0D4E-4C31CABB9C41}"/>
              </a:ext>
            </a:extLst>
          </p:cNvPr>
          <p:cNvSpPr txBox="1"/>
          <p:nvPr/>
        </p:nvSpPr>
        <p:spPr>
          <a:xfrm>
            <a:off x="15817430" y="9655833"/>
            <a:ext cx="38740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N" sz="1600" dirty="0"/>
              <a:t>Figure 4: Heatmap for Feature Importance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12CD83-CC5C-A908-4B0D-1DBB4FE52AFF}"/>
              </a:ext>
            </a:extLst>
          </p:cNvPr>
          <p:cNvSpPr txBox="1"/>
          <p:nvPr/>
        </p:nvSpPr>
        <p:spPr>
          <a:xfrm>
            <a:off x="14806512" y="14225021"/>
            <a:ext cx="5920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N" sz="1600" dirty="0"/>
              <a:t>Figure 5: Bootstrap Confidence Interval Evaluation (Ridge vs MLP)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968035D-787C-A294-8ADF-54066E8D9367}"/>
              </a:ext>
            </a:extLst>
          </p:cNvPr>
          <p:cNvSpPr txBox="1"/>
          <p:nvPr/>
        </p:nvSpPr>
        <p:spPr>
          <a:xfrm>
            <a:off x="15060025" y="19705277"/>
            <a:ext cx="5388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N" sz="1600" dirty="0"/>
              <a:t>Table 4: Best Performed Models and Configs across Phases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A45FC15-DCE8-AAF5-BAD8-3FB05D1F7553}"/>
              </a:ext>
            </a:extLst>
          </p:cNvPr>
          <p:cNvSpPr txBox="1"/>
          <p:nvPr/>
        </p:nvSpPr>
        <p:spPr>
          <a:xfrm>
            <a:off x="291625" y="29466205"/>
            <a:ext cx="1826185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[1]	Y. Gao, R. Zhou, L. Hong, B. Chen, J. Sun, R. Zhou, and Z. Liu, "Efficient synthesis of CO and H₂O₂ via nanosecond pulsed CO₂ bubble discharge," </a:t>
            </a: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J. Phys. D: Appl. Phys.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vol. 57, no. 37, Sep. 2024,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doi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 10.1088/1361-6463/ad5569.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[2]	P. Paris, M.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Aints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F. Valk, T. Plank, A.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Haljaste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K. V. Kozlov, and H.-E. Wagner, "Intensity ratio of spectral bands of nitrogen as a measure of electric field strength in plasmas," J. Phys. D: Appl. Phys., vol. 38, no. 21, pp. 3894–3899, 2005,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doi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 10.1088/0022-3727/38/21/010.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[3]	H. R. Griem, Principles of Plasma Spectroscopy. Cambridge, U.K.: Cambridge University Press, 1997,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ch.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7.</a:t>
            </a:r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37350736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1844</TotalTime>
  <Words>1014</Words>
  <Application>Microsoft Macintosh PowerPoint</Application>
  <PresentationFormat>Custom</PresentationFormat>
  <Paragraphs>110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Mingjie Zhu</dc:creator>
  <cp:lastModifiedBy>Mingjie Zhu</cp:lastModifiedBy>
  <cp:revision>192</cp:revision>
  <dcterms:created xsi:type="dcterms:W3CDTF">2026-03-10T19:35:33Z</dcterms:created>
  <dcterms:modified xsi:type="dcterms:W3CDTF">2026-03-15T01:41:45Z</dcterms:modified>
</cp:coreProperties>
</file>