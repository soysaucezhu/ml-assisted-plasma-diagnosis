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5F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30"/>
    <p:restoredTop sz="97193"/>
  </p:normalViewPr>
  <p:slideViewPr>
    <p:cSldViewPr snapToGrid="0">
      <p:cViewPr>
        <p:scale>
          <a:sx n="60" d="100"/>
          <a:sy n="60" d="100"/>
        </p:scale>
        <p:origin x="3272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312384-EEA0-B942-9C1C-50C8244C080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6800" y="1143000"/>
            <a:ext cx="2184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ED516-323A-B240-BE4E-EB4CA4F03577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5139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36800" y="1143000"/>
            <a:ext cx="2184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ED516-323A-B240-BE4E-EB4CA4F03577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90317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74146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415834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</p:spPr>
        <p:txBody>
          <a:bodyPr anchor="b"/>
          <a:lstStyle>
            <a:lvl1pPr>
              <a:defRPr sz="1405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</p:spPr>
        <p:txBody>
          <a:bodyPr/>
          <a:lstStyle>
            <a:lvl1pPr marL="0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82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82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8969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58861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1044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634166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958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43638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</p:spPr>
        <p:txBody>
          <a:bodyPr anchor="b"/>
          <a:lstStyle>
            <a:lvl1pPr>
              <a:defRPr sz="7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2424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43684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9058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979C4-88EC-9C4B-9267-35BA343BA14B}" type="datetimeFigureOut">
              <a:rPr lang="en-CN" smtClean="0"/>
              <a:t>2026/3/14</a:t>
            </a:fld>
            <a:endParaRPr lang="en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1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F910-B470-044F-9947-E74BACF2503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33189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1027">
            <a:extLst>
              <a:ext uri="{FF2B5EF4-FFF2-40B4-BE49-F238E27FC236}">
                <a16:creationId xmlns:a16="http://schemas.microsoft.com/office/drawing/2014/main" id="{730FCA34-DC1C-7B2E-3263-D5908DF662D8}"/>
              </a:ext>
            </a:extLst>
          </p:cNvPr>
          <p:cNvSpPr/>
          <p:nvPr/>
        </p:nvSpPr>
        <p:spPr>
          <a:xfrm>
            <a:off x="0" y="29301411"/>
            <a:ext cx="21695418" cy="973802"/>
          </a:xfrm>
          <a:prstGeom prst="rect">
            <a:avLst/>
          </a:prstGeom>
          <a:solidFill>
            <a:srgbClr val="355F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4096" dirty="0"/>
              <a:t>`</a:t>
            </a:r>
            <a:endParaRPr lang="en-CN" sz="4096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0E4648-CCC5-E983-26A1-0663794D4DFB}"/>
              </a:ext>
            </a:extLst>
          </p:cNvPr>
          <p:cNvSpPr/>
          <p:nvPr/>
        </p:nvSpPr>
        <p:spPr>
          <a:xfrm>
            <a:off x="0" y="0"/>
            <a:ext cx="21420140" cy="2908117"/>
          </a:xfrm>
          <a:prstGeom prst="rect">
            <a:avLst/>
          </a:prstGeom>
          <a:solidFill>
            <a:srgbClr val="3660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0EDB25-8610-C8B4-5905-0D2DA4759622}"/>
              </a:ext>
            </a:extLst>
          </p:cNvPr>
          <p:cNvSpPr txBox="1"/>
          <p:nvPr/>
        </p:nvSpPr>
        <p:spPr>
          <a:xfrm>
            <a:off x="1473855" y="130801"/>
            <a:ext cx="184380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Machine Learning Assisted Real-Time Plasma Diagnosis: 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Domain-Knowledge-Driven Feature Engineering Enable H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O</a:t>
            </a:r>
            <a:r>
              <a:rPr lang="en-US" sz="4400" b="1" baseline="-25000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2 </a:t>
            </a:r>
            <a:r>
              <a:rPr lang="en-US" sz="4400" b="1" dirty="0">
                <a:solidFill>
                  <a:schemeClr val="bg1"/>
                </a:solidFill>
                <a:latin typeface="+mj-lt"/>
                <a:cs typeface="Calibri" panose="020F0502020204030204" pitchFamily="34" charset="0"/>
              </a:rPr>
              <a:t>Yield Prediction</a:t>
            </a:r>
            <a:endParaRPr lang="en-CN" sz="4000" b="1" dirty="0">
              <a:solidFill>
                <a:schemeClr val="bg1"/>
              </a:solidFill>
              <a:latin typeface="+mj-lt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AF1040-1642-AD80-FA87-F4F86A8F15DF}"/>
              </a:ext>
            </a:extLst>
          </p:cNvPr>
          <p:cNvSpPr txBox="1"/>
          <p:nvPr/>
        </p:nvSpPr>
        <p:spPr>
          <a:xfrm>
            <a:off x="7178468" y="1689709"/>
            <a:ext cx="7028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Supervisor: Xin Tu	Assessor: Xue Yong</a:t>
            </a:r>
          </a:p>
          <a:p>
            <a:pPr algn="ctr"/>
            <a:r>
              <a:rPr lang="en-CN" sz="28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Mingjie Zhu  (201850714)	</a:t>
            </a:r>
          </a:p>
        </p:txBody>
      </p:sp>
      <p:pic>
        <p:nvPicPr>
          <p:cNvPr id="33" name="图片 72">
            <a:extLst>
              <a:ext uri="{FF2B5EF4-FFF2-40B4-BE49-F238E27FC236}">
                <a16:creationId xmlns:a16="http://schemas.microsoft.com/office/drawing/2014/main" id="{CE82D9B4-FF87-FD54-BE3E-B9AA1108C86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57901" y="1403948"/>
            <a:ext cx="4200416" cy="1446550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88C311E7-0C99-82C3-A0DE-4E491B7D2ACA}"/>
              </a:ext>
            </a:extLst>
          </p:cNvPr>
          <p:cNvGrpSpPr/>
          <p:nvPr/>
        </p:nvGrpSpPr>
        <p:grpSpPr>
          <a:xfrm>
            <a:off x="7348061" y="16387456"/>
            <a:ext cx="6724016" cy="12774366"/>
            <a:chOff x="440418" y="5694830"/>
            <a:chExt cx="9183262" cy="12774366"/>
          </a:xfrm>
        </p:grpSpPr>
        <p:sp>
          <p:nvSpPr>
            <p:cNvPr id="49" name="Text Box 189">
              <a:extLst>
                <a:ext uri="{FF2B5EF4-FFF2-40B4-BE49-F238E27FC236}">
                  <a16:creationId xmlns:a16="http://schemas.microsoft.com/office/drawing/2014/main" id="{BE3C8062-1114-E101-75D6-0ADD85BA5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18005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Principle component analysis on 701 OES frequencies requires 11 components to reach 95% cumulative variance, and first 5 PCs capture ~74% of variance. 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However, in phase 1, discharge parameter-only configurations dominate for most models, and OES-only inputs performs poorly.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After tuning parameters in phase 2, R</a:t>
              </a:r>
              <a:r>
                <a:rPr lang="en-US" sz="2400" baseline="30000" dirty="0">
                  <a:solidFill>
                    <a:prstClr val="black"/>
                  </a:solidFill>
                  <a:latin typeface="+mn-lt"/>
                </a:rPr>
                <a:t>2 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for all models are improved universally. MLP shows the most significant recovery from -1.13 to 0.33 for Config C and reaches 0.86 for Config B. CNN with config C remains the best OES-utilizing model.</a:t>
              </a:r>
            </a:p>
            <a:p>
              <a:pPr lvl="0" eaLnBrk="1" hangingPunct="1">
                <a:spcAft>
                  <a:spcPts val="1200"/>
                </a:spcAft>
                <a:defRPr/>
              </a:pP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The most </a:t>
              </a:r>
              <a:r>
                <a:rPr lang="en-US" sz="2400" dirty="0"/>
                <a:t>pivotal</a:t>
              </a:r>
              <a:r>
                <a:rPr lang="en-US" sz="2400" dirty="0">
                  <a:solidFill>
                    <a:prstClr val="black"/>
                  </a:solidFill>
                  <a:latin typeface="+mn-lt"/>
                </a:rPr>
                <a:t> breakthrough is in phase 3. Feature engineering dramatically improved Config C for MLP model from 0.33 to 0.80 and Ridge model from -0.17 to 0.80.</a:t>
              </a: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endParaRPr lang="en-US" sz="2400" dirty="0">
                <a:solidFill>
                  <a:prstClr val="black"/>
                </a:solidFill>
                <a:latin typeface="+mn-lt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D5B111A-B4E9-6D13-00F1-85495135907E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Results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9355F9A-B3D3-A17F-1418-060C39543E24}"/>
              </a:ext>
            </a:extLst>
          </p:cNvPr>
          <p:cNvGrpSpPr/>
          <p:nvPr/>
        </p:nvGrpSpPr>
        <p:grpSpPr>
          <a:xfrm>
            <a:off x="229885" y="3091330"/>
            <a:ext cx="6748634" cy="14928802"/>
            <a:chOff x="440418" y="5694830"/>
            <a:chExt cx="9183262" cy="14928802"/>
          </a:xfrm>
        </p:grpSpPr>
        <p:sp>
          <p:nvSpPr>
            <p:cNvPr id="52" name="Text Box 189">
              <a:extLst>
                <a:ext uri="{FF2B5EF4-FFF2-40B4-BE49-F238E27FC236}">
                  <a16:creationId xmlns:a16="http://schemas.microsoft.com/office/drawing/2014/main" id="{11367713-F6E8-F588-F90C-BE8C07A708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1395500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2400" dirty="0">
                  <a:latin typeface="+mn-lt"/>
                </a:rPr>
                <a:t>Nanosecond pulsed CO2 bubble discharge demonstrates novel pathway that utilizes plasma technology  to convert CO2 into useful chemical products, such as H2 and H2O2[1]. 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Optical Emission Spectroscopy (OES) is a cost-effective instrument that enables non-intrusive, real-time measurement into the status of plasma. </a:t>
              </a:r>
            </a:p>
            <a:p>
              <a:pPr eaLnBrk="1" hangingPunct="1">
                <a:spcAft>
                  <a:spcPts val="1200"/>
                </a:spcAft>
              </a:pPr>
              <a:r>
                <a:rPr lang="en-US" sz="2400" dirty="0">
                  <a:latin typeface="+mn-lt"/>
                </a:rPr>
                <a:t>In this research, </a:t>
              </a:r>
              <a:r>
                <a:rPr lang="en-US" sz="2400" b="1" dirty="0">
                  <a:latin typeface="+mn-lt"/>
                </a:rPr>
                <a:t>OES spectrum, combined with reaction discharge parameters</a:t>
              </a:r>
              <a:r>
                <a:rPr lang="en-US" sz="2400" dirty="0">
                  <a:latin typeface="+mn-lt"/>
                </a:rPr>
                <a:t>, are engineered to build informative features that allow Machine Learning models (i.e. linear regression, artificial neural network) to recognize and </a:t>
              </a:r>
              <a:r>
                <a:rPr lang="en-US" sz="2400" b="1" dirty="0">
                  <a:latin typeface="+mn-lt"/>
                </a:rPr>
                <a:t>predict H2O2 yield</a:t>
              </a:r>
              <a:r>
                <a:rPr lang="en-US" sz="2400" dirty="0">
                  <a:latin typeface="+mn-lt"/>
                </a:rPr>
                <a:t>. Data used in this research is collected from Gao et al.[1]</a:t>
              </a: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endParaRPr lang="en-US" sz="2400" dirty="0">
                <a:latin typeface="+mn-lt"/>
              </a:endParaRPr>
            </a:p>
            <a:p>
              <a:pPr eaLnBrk="1" hangingPunct="1"/>
              <a:br>
                <a:rPr lang="en-US" sz="2400" dirty="0">
                  <a:latin typeface="+mn-lt"/>
                </a:rPr>
              </a:b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9AF8757-41ED-FFFA-5384-C33B63700FE3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Introduction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64BEBB4-2B07-8A00-0D3E-4D50D99D61F4}"/>
              </a:ext>
            </a:extLst>
          </p:cNvPr>
          <p:cNvGrpSpPr/>
          <p:nvPr/>
        </p:nvGrpSpPr>
        <p:grpSpPr>
          <a:xfrm>
            <a:off x="14392421" y="17013613"/>
            <a:ext cx="6748634" cy="8711716"/>
            <a:chOff x="440418" y="5694830"/>
            <a:chExt cx="9183262" cy="8711716"/>
          </a:xfrm>
        </p:grpSpPr>
        <p:sp>
          <p:nvSpPr>
            <p:cNvPr id="58" name="Text Box 189">
              <a:extLst>
                <a:ext uri="{FF2B5EF4-FFF2-40B4-BE49-F238E27FC236}">
                  <a16:creationId xmlns:a16="http://schemas.microsoft.com/office/drawing/2014/main" id="{31DB89BC-58E0-5E44-5C43-8A524383971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773791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200" dirty="0">
                  <a:latin typeface="+mn-lt"/>
                </a:rPr>
                <a:t>Inspired by CNC machining, this project creates an automated drawing machine using an Etch A Sketch board</a:t>
              </a:r>
              <a:r>
                <a:rPr lang="en-US" sz="3200" baseline="30000" dirty="0">
                  <a:latin typeface="Calibri" pitchFamily="34" charset="0"/>
                </a:rPr>
                <a:t>[1]</a:t>
              </a:r>
              <a:r>
                <a:rPr lang="en-US" sz="3200" dirty="0">
                  <a:latin typeface="Calibri" pitchFamily="34" charset="0"/>
                </a:rPr>
                <a:t>.</a:t>
              </a:r>
              <a:r>
                <a:rPr lang="en-US" sz="3200" dirty="0">
                  <a:latin typeface="+mn-lt"/>
                </a:rPr>
                <a:t> </a:t>
              </a:r>
            </a:p>
            <a:p>
              <a:pPr eaLnBrk="1" hangingPunct="1"/>
              <a:endParaRPr lang="en-US" sz="3200" dirty="0">
                <a:latin typeface="+mn-lt"/>
              </a:endParaRPr>
            </a:p>
            <a:p>
              <a:pPr eaLnBrk="1" hangingPunct="1"/>
              <a:r>
                <a:rPr lang="en-US" sz="3200" dirty="0">
                  <a:latin typeface="+mn-lt"/>
                </a:rPr>
                <a:t>It first introduces a software pipeline that transforms digital images into continuous-line drawings. By employing edge detection techniques and a specialized depth-first search (DFS) algorithm, our system generates optimized G-code instructions tailored for our custom-built drawing machine.</a:t>
              </a:r>
            </a:p>
            <a:p>
              <a:pPr eaLnBrk="1" hangingPunct="1"/>
              <a:br>
                <a:rPr lang="en-US" sz="3200" dirty="0">
                  <a:latin typeface="+mn-lt"/>
                </a:rPr>
              </a:br>
              <a:r>
                <a:rPr lang="en-US" sz="3200" dirty="0">
                  <a:latin typeface="+mn-lt"/>
                </a:rPr>
                <a:t>The hardware system interprets these instructions and uses two stepper motors to precisely control the Etch A Sketch knobs, allowing the machine to replicate digital images as physical sketches.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3D28B58-D871-A128-44C7-E9F0E35DAAEB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Introduction</a:t>
              </a:r>
            </a:p>
          </p:txBody>
        </p:sp>
      </p:grpSp>
      <p:pic>
        <p:nvPicPr>
          <p:cNvPr id="1029" name="Picture 5" descr="Schematic diagram of experimental setup.">
            <a:extLst>
              <a:ext uri="{FF2B5EF4-FFF2-40B4-BE49-F238E27FC236}">
                <a16:creationId xmlns:a16="http://schemas.microsoft.com/office/drawing/2014/main" id="{FCA622DA-7B21-8627-4272-39CB7D6265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2065" y="5725782"/>
            <a:ext cx="4187216" cy="3359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2996D8F0-137B-63DD-86A7-74B0537DAB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647" y="13913567"/>
            <a:ext cx="4777310" cy="3582982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CE60D2E9-18EC-7A44-614B-498DB790D767}"/>
              </a:ext>
            </a:extLst>
          </p:cNvPr>
          <p:cNvGrpSpPr/>
          <p:nvPr/>
        </p:nvGrpSpPr>
        <p:grpSpPr>
          <a:xfrm>
            <a:off x="229885" y="18199581"/>
            <a:ext cx="6748634" cy="10881541"/>
            <a:chOff x="440418" y="5694830"/>
            <a:chExt cx="9183262" cy="10881541"/>
          </a:xfrm>
        </p:grpSpPr>
        <p:sp>
          <p:nvSpPr>
            <p:cNvPr id="62" name="Text Box 189">
              <a:extLst>
                <a:ext uri="{FF2B5EF4-FFF2-40B4-BE49-F238E27FC236}">
                  <a16:creationId xmlns:a16="http://schemas.microsoft.com/office/drawing/2014/main" id="{E7D69C59-0935-BBC8-C3FC-5D2657984F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0418" y="6668631"/>
              <a:ext cx="9183262" cy="990774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73940" tIns="173940" rIns="173940" bIns="17394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Aft>
                  <a:spcPts val="600"/>
                </a:spcAft>
              </a:pPr>
              <a:r>
                <a:rPr lang="en-US" sz="2400" dirty="0">
                  <a:latin typeface="+mn-lt"/>
                </a:rPr>
                <a:t>The project is conducted in </a:t>
              </a:r>
              <a:r>
                <a:rPr lang="en-US" sz="2400" b="1" dirty="0">
                  <a:latin typeface="+mn-lt"/>
                </a:rPr>
                <a:t>4 iterative phases</a:t>
              </a:r>
              <a:r>
                <a:rPr lang="en-US" sz="2400" dirty="0">
                  <a:latin typeface="+mn-lt"/>
                </a:rPr>
                <a:t>, each building on the previous one to enhance model performance and interpretability.</a:t>
              </a: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1</a:t>
              </a:r>
              <a:r>
                <a:rPr lang="en-US" sz="2400" dirty="0">
                  <a:latin typeface="+mn-lt"/>
                </a:rPr>
                <a:t>: Baseline modeling with PCA-reduced OES features + discharge parameters.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Principle Component Analysis is a dimensionality reduction technique that utilizes covariance matrix and solves its eigenvector as PCs.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Both linear and non-linear models are tested: Ridge, PLS, SVR, </a:t>
              </a:r>
              <a:r>
                <a:rPr lang="en-US" sz="2400" dirty="0" err="1">
                  <a:latin typeface="+mn-lt"/>
                </a:rPr>
                <a:t>XGBoost</a:t>
              </a:r>
              <a:r>
                <a:rPr lang="en-US" sz="2400" dirty="0">
                  <a:latin typeface="+mn-lt"/>
                </a:rPr>
                <a:t>, RF, MLP, CNN.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>
                  <a:latin typeface="+mn-lt"/>
                </a:rPr>
                <a:t>Three configs of features/parameters are used as input data for models. </a:t>
              </a:r>
              <a:br>
                <a:rPr lang="en-US" sz="2400" dirty="0">
                  <a:latin typeface="+mn-lt"/>
                </a:rPr>
              </a:b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endParaRPr lang="en-US" sz="2400" dirty="0">
                <a:latin typeface="+mn-lt"/>
              </a:endParaRPr>
            </a:p>
            <a:p>
              <a:pPr eaLnBrk="1" hangingPunct="1">
                <a:spcAft>
                  <a:spcPts val="600"/>
                </a:spcAft>
              </a:pPr>
              <a:r>
                <a:rPr lang="en-US" sz="2400" b="1" dirty="0">
                  <a:latin typeface="+mn-lt"/>
                </a:rPr>
                <a:t>Phase 2</a:t>
              </a:r>
              <a:r>
                <a:rPr lang="en-US" sz="2400" dirty="0">
                  <a:latin typeface="+mn-lt"/>
                </a:rPr>
                <a:t>: Hyperparameter tuning of nonlinear models (RF, MLP, CNN) using Bayesian optimization.</a:t>
              </a:r>
            </a:p>
            <a:p>
              <a:pPr marL="342900" indent="-342900" eaLnBrk="1" hangingPunct="1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sz="2400" dirty="0" err="1">
                  <a:latin typeface="+mn-lt"/>
                </a:rPr>
                <a:t>Optuna</a:t>
              </a:r>
              <a:r>
                <a:rPr lang="en-US" sz="2400" dirty="0">
                  <a:latin typeface="+mn-lt"/>
                </a:rPr>
                <a:t> is a framework for hyperparameter tuning. It use Tree-structured </a:t>
              </a:r>
              <a:r>
                <a:rPr lang="en-US" sz="2400" dirty="0" err="1">
                  <a:latin typeface="+mn-lt"/>
                </a:rPr>
                <a:t>Parzen</a:t>
              </a:r>
              <a:r>
                <a:rPr lang="en-US" sz="2400" dirty="0">
                  <a:latin typeface="+mn-lt"/>
                </a:rPr>
                <a:t> Estimator to optimize hyperparameter for each model.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4DA1A1-38BF-844A-D549-D04E388006A4}"/>
                </a:ext>
              </a:extLst>
            </p:cNvPr>
            <p:cNvSpPr/>
            <p:nvPr/>
          </p:nvSpPr>
          <p:spPr>
            <a:xfrm>
              <a:off x="440418" y="5694830"/>
              <a:ext cx="9183262" cy="97380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86970" tIns="43485" rIns="86970" bIns="43485" rtlCol="0" anchor="ctr"/>
            <a:lstStyle/>
            <a:p>
              <a:pPr algn="ctr"/>
              <a:r>
                <a:rPr lang="en-US" sz="54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Methodology</a:t>
              </a:r>
            </a:p>
          </p:txBody>
        </p:sp>
      </p:grpSp>
      <p:pic>
        <p:nvPicPr>
          <p:cNvPr id="1026" name="Picture 1025">
            <a:extLst>
              <a:ext uri="{FF2B5EF4-FFF2-40B4-BE49-F238E27FC236}">
                <a16:creationId xmlns:a16="http://schemas.microsoft.com/office/drawing/2014/main" id="{F60A19EB-6313-5386-3248-D7D54E3A51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0808" y="24851344"/>
            <a:ext cx="4609730" cy="1204520"/>
          </a:xfrm>
          <a:prstGeom prst="rect">
            <a:avLst/>
          </a:prstGeom>
        </p:spPr>
      </p:pic>
      <p:sp>
        <p:nvSpPr>
          <p:cNvPr id="1031" name="Text Box 189">
            <a:extLst>
              <a:ext uri="{FF2B5EF4-FFF2-40B4-BE49-F238E27FC236}">
                <a16:creationId xmlns:a16="http://schemas.microsoft.com/office/drawing/2014/main" id="{A3F1484F-2201-0648-A414-29FF4773B7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48061" y="3091330"/>
            <a:ext cx="6724016" cy="13139393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RF, MLP and CNN are tuned with over 100 trails per model-config pair.</a:t>
            </a:r>
            <a:endParaRPr lang="en-US" sz="2400" b="1" dirty="0">
              <a:latin typeface="+mn-lt"/>
            </a:endParaRPr>
          </a:p>
          <a:p>
            <a:pPr marL="0" marR="0" lvl="0" indent="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latin typeface="+mn-lt"/>
              </a:rPr>
              <a:t>Phase 3: </a:t>
            </a:r>
            <a:r>
              <a:rPr lang="en-US" sz="2400" dirty="0">
                <a:latin typeface="+mn-lt"/>
              </a:rPr>
              <a:t>Manually construction input features based on plasma chemistry domain-knowledge.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Construct</a:t>
            </a:r>
            <a:r>
              <a:rPr lang="en-US" sz="2400" dirty="0">
                <a:latin typeface="+mn-lt"/>
              </a:rPr>
              <a:t> physically meaningful features based on </a:t>
            </a:r>
            <a:r>
              <a:rPr lang="en-US" sz="2400" dirty="0" err="1">
                <a:latin typeface="+mn-lt"/>
              </a:rPr>
              <a:t>plamsa</a:t>
            </a:r>
            <a:r>
              <a:rPr lang="en-US" sz="2400" dirty="0">
                <a:latin typeface="+mn-lt"/>
              </a:rPr>
              <a:t> chemistry domain knowledge, </a:t>
            </a:r>
            <a:r>
              <a:rPr lang="en-US" altLang="zh-CN" sz="2400" dirty="0">
                <a:latin typeface="+mn-lt"/>
              </a:rPr>
              <a:t>instead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of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PCA-selected OES components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marL="342900" marR="0" lvl="0" indent="-342900" fontAlgn="auto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CN" sz="2400" dirty="0">
                <a:latin typeface="+mn-lt"/>
              </a:rPr>
              <a:t>U</a:t>
            </a:r>
            <a:r>
              <a:rPr lang="en-US" sz="2400" dirty="0">
                <a:latin typeface="+mn-lt"/>
              </a:rPr>
              <a:t>pdate three </a:t>
            </a:r>
            <a:r>
              <a:rPr lang="en-US" altLang="zh-CN" sz="2400" dirty="0">
                <a:latin typeface="+mn-lt"/>
              </a:rPr>
              <a:t>training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input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sz="2400" dirty="0">
                <a:latin typeface="+mn-lt"/>
              </a:rPr>
              <a:t>configs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with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new</a:t>
            </a:r>
            <a:r>
              <a:rPr lang="zh-CN" altLang="en-US" sz="2400" dirty="0"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features</a:t>
            </a:r>
            <a:r>
              <a:rPr lang="en-US" sz="2400" dirty="0">
                <a:latin typeface="+mn-lt"/>
              </a:rPr>
              <a:t>.</a:t>
            </a: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endParaRPr lang="en-US" sz="2400" b="1" dirty="0">
              <a:latin typeface="+mn-lt"/>
            </a:endParaRPr>
          </a:p>
          <a:p>
            <a:r>
              <a:rPr lang="en-US" sz="2400" b="1" dirty="0">
                <a:latin typeface="+mn-lt"/>
              </a:rPr>
              <a:t>P</a:t>
            </a:r>
            <a:r>
              <a:rPr lang="en-US" altLang="zh-CN" sz="2400" b="1" dirty="0">
                <a:latin typeface="+mn-lt"/>
              </a:rPr>
              <a:t>hase</a:t>
            </a:r>
            <a:r>
              <a:rPr lang="zh-CN" altLang="en-US" sz="2400" b="1" dirty="0">
                <a:latin typeface="+mn-lt"/>
              </a:rPr>
              <a:t> </a:t>
            </a:r>
            <a:r>
              <a:rPr lang="en-US" altLang="zh-CN" sz="2400" b="1" dirty="0">
                <a:latin typeface="+mn-lt"/>
              </a:rPr>
              <a:t>4:</a:t>
            </a:r>
            <a:r>
              <a:rPr lang="en-US" altLang="zh-CN" sz="2400" dirty="0">
                <a:latin typeface="+mn-lt"/>
              </a:rPr>
              <a:t> </a:t>
            </a:r>
            <a:r>
              <a:rPr lang="en-US" dirty="0">
                <a:latin typeface="+mn-lt"/>
              </a:rPr>
              <a:t>Interpretability analysis and feature reduction via multi-model consensus and backward elimination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+mn-lt"/>
              </a:rPr>
              <a:t>Evaluate feature importance for each model via different methods.</a:t>
            </a:r>
          </a:p>
          <a:p>
            <a:endParaRPr lang="en-US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eaLnBrk="1" hangingPunct="1"/>
            <a:endParaRPr lang="en-US" sz="2400" dirty="0">
              <a:latin typeface="+mn-lt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Evaluate R</a:t>
            </a:r>
            <a:r>
              <a:rPr lang="en-US" sz="2400" baseline="30000" dirty="0">
                <a:latin typeface="+mn-lt"/>
              </a:rPr>
              <a:t>2</a:t>
            </a:r>
            <a:r>
              <a:rPr lang="en-US" sz="2400" dirty="0">
                <a:latin typeface="+mn-lt"/>
              </a:rPr>
              <a:t> confidence interval of  Ridge and PLS using bootstrap resampling, </a:t>
            </a:r>
          </a:p>
          <a:p>
            <a:pPr marL="342900" indent="-342900" eaLnBrk="1" hangingPunct="1">
              <a:buFont typeface="Arial" panose="020B0604020202020204" pitchFamily="34" charset="0"/>
              <a:buChar char="•"/>
            </a:pPr>
            <a:r>
              <a:rPr lang="en-US" sz="2400" dirty="0">
                <a:latin typeface="+mn-lt"/>
              </a:rPr>
              <a:t>Examine the overall best model and config via eliminating features.</a:t>
            </a:r>
          </a:p>
        </p:txBody>
      </p:sp>
      <p:pic>
        <p:nvPicPr>
          <p:cNvPr id="1033" name="Picture 1032">
            <a:extLst>
              <a:ext uri="{FF2B5EF4-FFF2-40B4-BE49-F238E27FC236}">
                <a16:creationId xmlns:a16="http://schemas.microsoft.com/office/drawing/2014/main" id="{034E1230-AC65-D4BF-2133-4BB6ECEC25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9220" y="12234049"/>
            <a:ext cx="5827312" cy="178989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5880BC2-DD9A-5C57-7BB5-24CED8CABE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1503" y="22713846"/>
            <a:ext cx="4447598" cy="6914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35E7776-D517-3CDD-C5EA-5261278653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9350" y="5669970"/>
            <a:ext cx="6409704" cy="376557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A94253-8789-26E5-5210-DD83FB638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8304"/>
          <a:stretch>
            <a:fillRect/>
          </a:stretch>
        </p:blipFill>
        <p:spPr>
          <a:xfrm>
            <a:off x="7687173" y="7187901"/>
            <a:ext cx="6321072" cy="33054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CFB691-92EA-998A-7F75-A9309CAF12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3475" y="18992254"/>
            <a:ext cx="4498802" cy="22494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0AF61B-B1F5-5EA9-D336-F730C1D07E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67373" y="26509224"/>
            <a:ext cx="6651006" cy="2217002"/>
          </a:xfrm>
          <a:prstGeom prst="rect">
            <a:avLst/>
          </a:prstGeom>
        </p:spPr>
      </p:pic>
      <p:sp>
        <p:nvSpPr>
          <p:cNvPr id="8" name="Text Box 189">
            <a:extLst>
              <a:ext uri="{FF2B5EF4-FFF2-40B4-BE49-F238E27FC236}">
                <a16:creationId xmlns:a16="http://schemas.microsoft.com/office/drawing/2014/main" id="{37F55E27-045C-0A8A-3D80-3AD92A791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92421" y="3093708"/>
            <a:ext cx="6724016" cy="281349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wrap="square" lIns="173940" tIns="173940" rIns="173940" bIns="17394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Phase 4  </a:t>
            </a: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endParaRPr lang="en-US" sz="2400" dirty="0">
              <a:solidFill>
                <a:prstClr val="black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5073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1579</TotalTime>
  <Words>595</Words>
  <Application>Microsoft Macintosh PowerPoint</Application>
  <PresentationFormat>Custom</PresentationFormat>
  <Paragraphs>82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Mingjie Zhu</dc:creator>
  <cp:lastModifiedBy>Mingjie Zhu</cp:lastModifiedBy>
  <cp:revision>129</cp:revision>
  <dcterms:created xsi:type="dcterms:W3CDTF">2026-03-10T19:35:33Z</dcterms:created>
  <dcterms:modified xsi:type="dcterms:W3CDTF">2026-03-14T21:16:41Z</dcterms:modified>
</cp:coreProperties>
</file>